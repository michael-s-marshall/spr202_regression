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75" r:id="rId5"/>
    <p:sldId id="278" r:id="rId6"/>
    <p:sldId id="276" r:id="rId7"/>
    <p:sldId id="260" r:id="rId8"/>
    <p:sldId id="280" r:id="rId9"/>
    <p:sldId id="281" r:id="rId10"/>
    <p:sldId id="262" r:id="rId11"/>
    <p:sldId id="298" r:id="rId12"/>
    <p:sldId id="282" r:id="rId13"/>
    <p:sldId id="284" r:id="rId14"/>
    <p:sldId id="297" r:id="rId15"/>
    <p:sldId id="299" r:id="rId16"/>
    <p:sldId id="287" r:id="rId17"/>
    <p:sldId id="288" r:id="rId18"/>
    <p:sldId id="289" r:id="rId19"/>
    <p:sldId id="290" r:id="rId20"/>
    <p:sldId id="291" r:id="rId21"/>
    <p:sldId id="292" r:id="rId22"/>
    <p:sldId id="293" r:id="rId23"/>
    <p:sldId id="294" r:id="rId24"/>
    <p:sldId id="296" r:id="rId25"/>
    <p:sldId id="295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AA92D9-631B-410E-9D89-18B4D709E90A}" type="datetimeFigureOut">
              <a:rPr lang="en-GB" smtClean="0"/>
              <a:t>25/02/2026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DB790-9223-4623-8753-600EBEC6624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18593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159917ac249_0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159917ac249_0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8">
          <a:extLst>
            <a:ext uri="{FF2B5EF4-FFF2-40B4-BE49-F238E27FC236}">
              <a16:creationId xmlns:a16="http://schemas.microsoft.com/office/drawing/2014/main" id="{BCDC39C3-9045-A64B-A742-0D3B311D8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159917ac249_0_225:notes">
            <a:extLst>
              <a:ext uri="{FF2B5EF4-FFF2-40B4-BE49-F238E27FC236}">
                <a16:creationId xmlns:a16="http://schemas.microsoft.com/office/drawing/2014/main" id="{1509A748-8286-E030-698E-6387A1E280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159917ac249_0_225:notes">
            <a:extLst>
              <a:ext uri="{FF2B5EF4-FFF2-40B4-BE49-F238E27FC236}">
                <a16:creationId xmlns:a16="http://schemas.microsoft.com/office/drawing/2014/main" id="{C1D3A26F-A923-54B3-154B-EE04D3B164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67057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g159917ac249_0_2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0" name="Google Shape;480;g159917ac249_0_2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944C7-15E0-C3AF-39D6-2CE346C517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506C20-9318-7DF1-ADEC-B800B8FFAC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6F3329-E9C5-8B0C-873D-94DEE41CC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3C22D-C5EF-42CE-977C-83E461155C13}" type="datetimeFigureOut">
              <a:rPr lang="en-GB" smtClean="0"/>
              <a:t>25/02/2026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6C3B42-7C95-7EAE-ED1A-E00B6EF60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949410-4FBD-FBEF-23CF-5B698DC45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711D6-76D2-480D-914C-AAE6DB26D3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77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90591-5A1F-2E8B-0E79-CE5C0BBBC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D2FD34-D745-E803-7E6B-D38423FAA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3FA899-F902-E3FC-C152-E8EDDE1EC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3C22D-C5EF-42CE-977C-83E461155C13}" type="datetimeFigureOut">
              <a:rPr lang="en-GB" smtClean="0"/>
              <a:t>25/02/2026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FB9217-7D4D-2706-7B21-C76E464BC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7057DA-C24E-3DF2-78BC-D84AB7231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711D6-76D2-480D-914C-AAE6DB26D3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0413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9577D-BFDA-6E3A-5F89-8B86AF18D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64D1F8-6082-13B6-6F04-689EEBE6D8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22D3C3-C075-97B6-B913-BF13B3592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3C22D-C5EF-42CE-977C-83E461155C13}" type="datetimeFigureOut">
              <a:rPr lang="en-GB" smtClean="0"/>
              <a:t>25/02/2026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0F80-3292-DEB8-1A14-5DACD3A8B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CE6534-C9DB-AC74-1757-840295411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711D6-76D2-480D-914C-AAE6DB26D3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0715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85631-7663-3FE9-4CEE-CADDAA062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472956-4B6F-CD13-0016-FB44E35E50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7DA0B0-B56D-B110-0C8A-ED4547688C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682BD4-289B-F970-64A7-47CE3E2EC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3C22D-C5EF-42CE-977C-83E461155C13}" type="datetimeFigureOut">
              <a:rPr lang="en-GB" smtClean="0"/>
              <a:t>25/02/2026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910F91-1AA4-CC3F-678A-1852B31B9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DA8861-3627-D73D-453B-FF9B64317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711D6-76D2-480D-914C-AAE6DB26D3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01071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A4EDC-FF8F-A502-2D1E-E97835157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A6A066-D6CE-2D82-7E47-0AC0509535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650CFE-C975-4B1B-7495-EAD280E19E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A6A991-92AB-82B7-72A7-A31E897DE5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C81574-4124-DE5F-FC81-AA08D7B1D4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603741-F736-67D6-D5BF-A4F008A07A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3C22D-C5EF-42CE-977C-83E461155C13}" type="datetimeFigureOut">
              <a:rPr lang="en-GB" smtClean="0"/>
              <a:t>25/02/2026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C0D053B-6106-E9FA-27CE-4B61A6FB7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05EB2B-4377-A64A-D065-EE4850755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711D6-76D2-480D-914C-AAE6DB26D3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9941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5E83D-B611-3735-4274-4475DB6A3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E1FA13-AC01-9318-AA4C-21AEB3EF9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3C22D-C5EF-42CE-977C-83E461155C13}" type="datetimeFigureOut">
              <a:rPr lang="en-GB" smtClean="0"/>
              <a:t>25/02/2026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936AC8-993C-89F6-EB5B-130A65210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F53F74-2B50-EBD2-7A92-67722FB7E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711D6-76D2-480D-914C-AAE6DB26D3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620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4D5BF2E-C461-4F86-0546-2290BADDCD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3C22D-C5EF-42CE-977C-83E461155C13}" type="datetimeFigureOut">
              <a:rPr lang="en-GB" smtClean="0"/>
              <a:t>25/02/2026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9DCD38-9F7D-C6CC-C5A2-DFF7BA0AB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75F672-1BDF-55C2-7F54-1B6F6CF8A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711D6-76D2-480D-914C-AAE6DB26D3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00671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1FD90-3079-6534-0402-B6D1F95D3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32082E-43AA-E711-DCBF-056A0D4C5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D91E6C-3343-1D08-E7EA-9C31EE9B1D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8B7F5C-3697-C36D-4B53-DEAE35C58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3C22D-C5EF-42CE-977C-83E461155C13}" type="datetimeFigureOut">
              <a:rPr lang="en-GB" smtClean="0"/>
              <a:t>25/02/2026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F1F57D-7B53-503A-DC57-1660F8F04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731A7C-B01E-BA98-9F8D-36142624E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711D6-76D2-480D-914C-AAE6DB26D3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1906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6DC4A-205E-A201-ABBC-ABB42DCFC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3FE23D7-BA86-2794-D959-C2BC7EC573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DE382A-AF09-E248-A77D-8AFF8BED2A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89EEC7-1607-2300-9753-6CB1EC759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3C22D-C5EF-42CE-977C-83E461155C13}" type="datetimeFigureOut">
              <a:rPr lang="en-GB" smtClean="0"/>
              <a:t>25/02/2026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E146C8-D1E6-4FC2-5A5A-F4D47FC15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421554-A486-67AD-F48D-6F50C10FF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711D6-76D2-480D-914C-AAE6DB26D3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10591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33F90-1F72-3EF4-BE4F-4CF49D6CA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CCAD5C-DC11-DDCE-1074-F87DEF93C9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A647C7-16B4-3B2A-FC84-3D16C71D2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3C22D-C5EF-42CE-977C-83E461155C13}" type="datetimeFigureOut">
              <a:rPr lang="en-GB" smtClean="0"/>
              <a:t>25/02/2026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BB49FF-EC2C-5000-177E-3141F2F44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952BE-52F8-C2BF-C02B-9EE28CA09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711D6-76D2-480D-914C-AAE6DB26D3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64761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28BDFE-D101-2F66-2953-D44CB431D5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B31A88-C93D-D675-640A-4E1B9647D4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D6FA5-C8C6-DA47-A736-AE4C98DD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3C22D-C5EF-42CE-977C-83E461155C13}" type="datetimeFigureOut">
              <a:rPr lang="en-GB" smtClean="0"/>
              <a:t>25/02/2026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5EA8-93AB-2D9C-CA76-AA1B00144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524B1B-EA03-9CBD-EE92-CF1BD2BC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711D6-76D2-480D-914C-AAE6DB26D3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1260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68759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2F2703-72CC-1FC1-F153-A768805E4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D1D2EC-54A4-D708-67CB-EC8CF7C8C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63027A-3FFF-F278-7C77-2D7F605CF3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03C22D-C5EF-42CE-977C-83E461155C13}" type="datetimeFigureOut">
              <a:rPr lang="en-GB" smtClean="0"/>
              <a:t>25/02/2026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D6ECDF-90FB-7494-8CFD-5EDE46BBEB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6D4D74-2720-FD7B-0072-EDAD1A556D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9711D6-76D2-480D-914C-AAE6DB26D3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0867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4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A79BF-5BA2-2FF0-BD33-1343870A72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Multivariate Regression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CB85BB-75CE-6818-1A62-CA015D87D66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Dr Michael Marshall</a:t>
            </a:r>
          </a:p>
        </p:txBody>
      </p:sp>
    </p:spTree>
    <p:extLst>
      <p:ext uri="{BB962C8B-B14F-4D97-AF65-F5344CB8AC3E}">
        <p14:creationId xmlns:p14="http://schemas.microsoft.com/office/powerpoint/2010/main" val="9226452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50F20-6956-7EA7-5E6F-A9E89CFA8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9AE66-68C1-CEC0-1CD9-84C587EFC9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30725"/>
          </a:xfrm>
        </p:spPr>
        <p:txBody>
          <a:bodyPr>
            <a:normAutofit/>
          </a:bodyPr>
          <a:lstStyle/>
          <a:p>
            <a:r>
              <a:rPr lang="en-GB" dirty="0"/>
              <a:t>Bivariate regression – what is it, why do we use it, how does it work</a:t>
            </a:r>
          </a:p>
          <a:p>
            <a:r>
              <a:rPr lang="en-GB" dirty="0"/>
              <a:t>Bivariate regression – worked example and interpretation</a:t>
            </a:r>
          </a:p>
          <a:p>
            <a:r>
              <a:rPr lang="en-GB" dirty="0"/>
              <a:t>Multivariate regression – purpose, worked example, interpretation</a:t>
            </a:r>
          </a:p>
          <a:p>
            <a:r>
              <a:rPr lang="en-GB" dirty="0"/>
              <a:t>Interactions</a:t>
            </a:r>
          </a:p>
          <a:p>
            <a:r>
              <a:rPr lang="en-GB" dirty="0"/>
              <a:t>Assumptions of regression</a:t>
            </a:r>
          </a:p>
          <a:p>
            <a:r>
              <a:rPr lang="en-GB" dirty="0"/>
              <a:t>Transformations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677428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37778-368D-C654-0045-7F32A0E4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612520-DA04-C6B6-9B52-0B05F7A98E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282950"/>
                <a:ext cx="10515600" cy="2838450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sz="3200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GB" sz="3200" i="1" dirty="0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3200" i="1" dirty="0" smtClean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GB" sz="3200" i="1" dirty="0" err="1" smtClean="0">
                          <a:latin typeface="Cambria Math" panose="02040503050406030204" pitchFamily="18" charset="0"/>
                        </a:rPr>
                        <m:t>𝑏𝑥</m:t>
                      </m:r>
                    </m:oMath>
                  </m:oMathPara>
                </a14:m>
                <a:endParaRPr sz="3200" dirty="0"/>
              </a:p>
              <a:p>
                <a:endParaRPr lang="en-GB" sz="3200" dirty="0"/>
              </a:p>
              <a:p>
                <a14:m>
                  <m:oMath xmlns:m="http://schemas.openxmlformats.org/officeDocument/2006/math">
                    <m:r>
                      <a:rPr lang="en-GB" sz="32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sz="3200" dirty="0"/>
                  <a:t> is a continuous dependent variable</a:t>
                </a:r>
              </a:p>
              <a:p>
                <a14:m>
                  <m:oMath xmlns:m="http://schemas.openxmlformats.org/officeDocument/2006/math">
                    <m:r>
                      <a:rPr lang="en-GB" sz="3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sz="3200" dirty="0"/>
                  <a:t> is the independent variable</a:t>
                </a:r>
              </a:p>
              <a:p>
                <a14:m>
                  <m:oMath xmlns:m="http://schemas.openxmlformats.org/officeDocument/2006/math">
                    <m:r>
                      <a:rPr lang="en-GB" sz="3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GB" sz="3200" dirty="0"/>
                  <a:t> is the </a:t>
                </a:r>
                <a:r>
                  <a:rPr lang="en-GB" sz="3200" b="1" dirty="0"/>
                  <a:t>Intercept</a:t>
                </a:r>
                <a:r>
                  <a:rPr lang="en-GB" sz="3200" dirty="0"/>
                  <a:t>, where the line crosses the y-axis</a:t>
                </a:r>
              </a:p>
              <a:p>
                <a14:m>
                  <m:oMath xmlns:m="http://schemas.openxmlformats.org/officeDocument/2006/math">
                    <m:r>
                      <a:rPr lang="en-GB" sz="320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sz="3200" dirty="0"/>
                  <a:t> is the </a:t>
                </a:r>
                <a:r>
                  <a:rPr lang="en-GB" sz="3200" b="1" dirty="0"/>
                  <a:t>slope</a:t>
                </a:r>
                <a:r>
                  <a:rPr lang="en-GB" sz="3200" dirty="0"/>
                  <a:t> term i.e. response of </a:t>
                </a:r>
                <a14:m>
                  <m:oMath xmlns:m="http://schemas.openxmlformats.org/officeDocument/2006/math">
                    <m:r>
                      <a:rPr lang="en-GB" sz="32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sz="3200" dirty="0"/>
                  <a:t> to a one-unit change in </a:t>
                </a:r>
                <a14:m>
                  <m:oMath xmlns:m="http://schemas.openxmlformats.org/officeDocument/2006/math">
                    <m:r>
                      <a:rPr lang="en-GB" sz="3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sz="3200" dirty="0"/>
                  <a:t> </a:t>
                </a:r>
              </a:p>
              <a:p>
                <a:endParaRPr lang="en-GB" sz="3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GB" sz="3200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sSub>
                        <m:sSubPr>
                          <m:ctrlPr>
                            <a:rPr lang="en-GB" sz="3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3200" i="1" dirty="0" smtClean="0"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lang="en-GB" sz="3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20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sz="3200" i="1" dirty="0" smtClean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GB" sz="3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GB" sz="3200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612520-DA04-C6B6-9B52-0B05F7A98E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282950"/>
                <a:ext cx="10515600" cy="2838450"/>
              </a:xfrm>
              <a:blipFill>
                <a:blip r:embed="rId2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849103B-DAEC-4A90-EAA9-F56946AD9822}"/>
              </a:ext>
            </a:extLst>
          </p:cNvPr>
          <p:cNvSpPr txBox="1">
            <a:spLocks/>
          </p:cNvSpPr>
          <p:nvPr/>
        </p:nvSpPr>
        <p:spPr>
          <a:xfrm>
            <a:off x="908050" y="1644650"/>
            <a:ext cx="10515600" cy="15875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sz="2000" dirty="0"/>
              <a:t>Regression is useful for:</a:t>
            </a:r>
          </a:p>
          <a:p>
            <a:r>
              <a:rPr lang="en-GB" sz="2000" dirty="0"/>
              <a:t>Inference – what is the relationship between X and Y?</a:t>
            </a:r>
          </a:p>
          <a:p>
            <a:r>
              <a:rPr lang="en-GB" sz="2000" dirty="0"/>
              <a:t>Prediction – what is the predicted value of Y given X?</a:t>
            </a:r>
            <a:endParaRPr lang="ar-SA" sz="2000" dirty="0"/>
          </a:p>
        </p:txBody>
      </p:sp>
    </p:spTree>
    <p:extLst>
      <p:ext uri="{BB962C8B-B14F-4D97-AF65-F5344CB8AC3E}">
        <p14:creationId xmlns:p14="http://schemas.microsoft.com/office/powerpoint/2010/main" val="11027312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2" name="Google Shape;462;p60"/>
          <p:cNvPicPr preferRelativeResize="0"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63337" y="1600622"/>
            <a:ext cx="5969828" cy="3031553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470" name="Google Shape;470;p60"/>
          <p:cNvSpPr/>
          <p:nvPr/>
        </p:nvSpPr>
        <p:spPr>
          <a:xfrm>
            <a:off x="5816701" y="5144933"/>
            <a:ext cx="3063200" cy="9820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-GB" sz="2133" b="1" dirty="0">
                <a:solidFill>
                  <a:schemeClr val="dk1"/>
                </a:solidFill>
                <a:ea typeface="Helvetica Neue"/>
                <a:cs typeface="Helvetica Neue"/>
                <a:sym typeface="Helvetica Neue"/>
              </a:rPr>
              <a:t>X - </a:t>
            </a:r>
            <a:r>
              <a:rPr lang="en-GB" sz="2133" dirty="0">
                <a:solidFill>
                  <a:schemeClr val="dk1"/>
                </a:solidFill>
                <a:ea typeface="Helvetica Neue"/>
                <a:cs typeface="Helvetica Neue"/>
                <a:sym typeface="Helvetica Neue"/>
              </a:rPr>
              <a:t>the </a:t>
            </a:r>
            <a:r>
              <a:rPr lang="en-GB" sz="2133" i="1" dirty="0">
                <a:solidFill>
                  <a:schemeClr val="dk1"/>
                </a:solidFill>
                <a:ea typeface="Helvetica Neue"/>
                <a:cs typeface="Helvetica Neue"/>
                <a:sym typeface="Helvetica Neue"/>
              </a:rPr>
              <a:t>independent variable</a:t>
            </a:r>
            <a:r>
              <a:rPr lang="en-GB" sz="2133" dirty="0">
                <a:solidFill>
                  <a:schemeClr val="dk1"/>
                </a:solidFill>
                <a:ea typeface="Helvetica Neue"/>
                <a:cs typeface="Helvetica Neue"/>
                <a:sym typeface="Helvetica Neue"/>
              </a:rPr>
              <a:t>, is put onto the horizontal axis</a:t>
            </a:r>
            <a:endParaRPr sz="2400" dirty="0"/>
          </a:p>
        </p:txBody>
      </p:sp>
      <p:sp>
        <p:nvSpPr>
          <p:cNvPr id="471" name="Google Shape;471;p60"/>
          <p:cNvSpPr/>
          <p:nvPr/>
        </p:nvSpPr>
        <p:spPr>
          <a:xfrm>
            <a:off x="339450" y="3887700"/>
            <a:ext cx="3063200" cy="11100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-GB" sz="2133" b="1">
                <a:solidFill>
                  <a:schemeClr val="dk1"/>
                </a:solidFill>
                <a:ea typeface="Helvetica Neue"/>
                <a:cs typeface="Helvetica Neue"/>
                <a:sym typeface="Helvetica Neue"/>
              </a:rPr>
              <a:t>Y -</a:t>
            </a:r>
            <a:r>
              <a:rPr lang="en-GB" sz="2133">
                <a:solidFill>
                  <a:schemeClr val="dk1"/>
                </a:solidFill>
                <a:ea typeface="Helvetica Neue"/>
                <a:cs typeface="Helvetica Neue"/>
                <a:sym typeface="Helvetica Neue"/>
              </a:rPr>
              <a:t> the </a:t>
            </a:r>
            <a:r>
              <a:rPr lang="en-GB" sz="2133" i="1">
                <a:solidFill>
                  <a:schemeClr val="dk1"/>
                </a:solidFill>
                <a:ea typeface="Helvetica Neue"/>
                <a:cs typeface="Helvetica Neue"/>
                <a:sym typeface="Helvetica Neue"/>
              </a:rPr>
              <a:t>dependent variable</a:t>
            </a:r>
            <a:r>
              <a:rPr lang="en-GB" sz="2133">
                <a:solidFill>
                  <a:schemeClr val="dk1"/>
                </a:solidFill>
                <a:ea typeface="Helvetica Neue"/>
                <a:cs typeface="Helvetica Neue"/>
                <a:sym typeface="Helvetica Neue"/>
              </a:rPr>
              <a:t>, is put onto the vertical axis. </a:t>
            </a:r>
            <a:endParaRPr sz="2400"/>
          </a:p>
        </p:txBody>
      </p:sp>
      <p:cxnSp>
        <p:nvCxnSpPr>
          <p:cNvPr id="473" name="Google Shape;473;p60"/>
          <p:cNvCxnSpPr>
            <a:cxnSpLocks/>
            <a:stCxn id="471" idx="3"/>
          </p:cNvCxnSpPr>
          <p:nvPr/>
        </p:nvCxnSpPr>
        <p:spPr>
          <a:xfrm flipV="1">
            <a:off x="3402650" y="3314700"/>
            <a:ext cx="1391600" cy="11280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75" name="Google Shape;475;p60"/>
          <p:cNvCxnSpPr>
            <a:cxnSpLocks/>
            <a:stCxn id="470" idx="0"/>
          </p:cNvCxnSpPr>
          <p:nvPr/>
        </p:nvCxnSpPr>
        <p:spPr>
          <a:xfrm flipV="1">
            <a:off x="7348301" y="4222750"/>
            <a:ext cx="0" cy="92218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81B9981-055F-2F53-773B-7C00010B2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Bivariate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Google Shape;470;p60">
                <a:extLst>
                  <a:ext uri="{FF2B5EF4-FFF2-40B4-BE49-F238E27FC236}">
                    <a16:creationId xmlns:a16="http://schemas.microsoft.com/office/drawing/2014/main" id="{7C1658D1-A4D1-4436-1C18-B3A4E8FB817A}"/>
                  </a:ext>
                </a:extLst>
              </p:cNvPr>
              <p:cNvSpPr/>
              <p:nvPr/>
            </p:nvSpPr>
            <p:spPr>
              <a:xfrm>
                <a:off x="2394051" y="5376673"/>
                <a:ext cx="3063200" cy="982000"/>
              </a:xfrm>
              <a:prstGeom prst="roundRect">
                <a:avLst>
                  <a:gd name="adj" fmla="val 16667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ctr">
                  <a:buClr>
                    <a:schemeClr val="dk1"/>
                  </a:buClr>
                  <a:buSzPts val="1100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sz="2400" dirty="0"/>
                  <a:t> - intercept is 0</a:t>
                </a:r>
                <a:endParaRPr sz="2400" dirty="0"/>
              </a:p>
            </p:txBody>
          </p:sp>
        </mc:Choice>
        <mc:Fallback xmlns="">
          <p:sp>
            <p:nvSpPr>
              <p:cNvPr id="5" name="Google Shape;470;p60">
                <a:extLst>
                  <a:ext uri="{FF2B5EF4-FFF2-40B4-BE49-F238E27FC236}">
                    <a16:creationId xmlns:a16="http://schemas.microsoft.com/office/drawing/2014/main" id="{7C1658D1-A4D1-4436-1C18-B3A4E8FB817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4051" y="5376673"/>
                <a:ext cx="3063200" cy="982000"/>
              </a:xfrm>
              <a:prstGeom prst="roundRect">
                <a:avLst>
                  <a:gd name="adj" fmla="val 16667"/>
                </a:avLst>
              </a:prstGeom>
              <a:blipFill>
                <a:blip r:embed="rId4"/>
                <a:stretch>
                  <a:fillRect/>
                </a:stretch>
              </a:blip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Google Shape;475;p60">
            <a:extLst>
              <a:ext uri="{FF2B5EF4-FFF2-40B4-BE49-F238E27FC236}">
                <a16:creationId xmlns:a16="http://schemas.microsoft.com/office/drawing/2014/main" id="{F6778844-06D4-E886-4B48-39550A3A8A80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3925651" y="4032250"/>
            <a:ext cx="918050" cy="134442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1">
          <a:extLst>
            <a:ext uri="{FF2B5EF4-FFF2-40B4-BE49-F238E27FC236}">
              <a16:creationId xmlns:a16="http://schemas.microsoft.com/office/drawing/2014/main" id="{F6F8EC5E-054C-0976-6F87-1846D7F95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2" name="Google Shape;462;p60">
            <a:extLst>
              <a:ext uri="{FF2B5EF4-FFF2-40B4-BE49-F238E27FC236}">
                <a16:creationId xmlns:a16="http://schemas.microsoft.com/office/drawing/2014/main" id="{E0113915-8BA8-6B8A-8F33-8C374F35159F}"/>
              </a:ext>
            </a:extLst>
          </p:cNvPr>
          <p:cNvPicPr preferRelativeResize="0"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63337" y="1600622"/>
            <a:ext cx="5969828" cy="3031553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470" name="Google Shape;470;p60">
            <a:extLst>
              <a:ext uri="{FF2B5EF4-FFF2-40B4-BE49-F238E27FC236}">
                <a16:creationId xmlns:a16="http://schemas.microsoft.com/office/drawing/2014/main" id="{332629E8-8FB2-C744-0F21-7A686C7C6B3C}"/>
              </a:ext>
            </a:extLst>
          </p:cNvPr>
          <p:cNvSpPr/>
          <p:nvPr/>
        </p:nvSpPr>
        <p:spPr>
          <a:xfrm>
            <a:off x="5816701" y="5144933"/>
            <a:ext cx="3063200" cy="9820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-GB" sz="2133" b="1" dirty="0">
                <a:solidFill>
                  <a:schemeClr val="dk1"/>
                </a:solidFill>
                <a:ea typeface="Helvetica Neue"/>
                <a:cs typeface="Helvetica Neue"/>
                <a:sym typeface="Helvetica Neue"/>
              </a:rPr>
              <a:t>X - </a:t>
            </a:r>
            <a:r>
              <a:rPr lang="en-GB" sz="2133" dirty="0">
                <a:solidFill>
                  <a:schemeClr val="dk1"/>
                </a:solidFill>
                <a:ea typeface="Helvetica Neue"/>
                <a:cs typeface="Helvetica Neue"/>
                <a:sym typeface="Helvetica Neue"/>
              </a:rPr>
              <a:t>the </a:t>
            </a:r>
            <a:r>
              <a:rPr lang="en-GB" sz="2133" i="1" dirty="0">
                <a:solidFill>
                  <a:schemeClr val="dk1"/>
                </a:solidFill>
                <a:ea typeface="Helvetica Neue"/>
                <a:cs typeface="Helvetica Neue"/>
                <a:sym typeface="Helvetica Neue"/>
              </a:rPr>
              <a:t>independent variable</a:t>
            </a:r>
            <a:r>
              <a:rPr lang="en-GB" sz="2133" dirty="0">
                <a:solidFill>
                  <a:schemeClr val="dk1"/>
                </a:solidFill>
                <a:ea typeface="Helvetica Neue"/>
                <a:cs typeface="Helvetica Neue"/>
                <a:sym typeface="Helvetica Neue"/>
              </a:rPr>
              <a:t>, is put onto the horizontal axis</a:t>
            </a:r>
            <a:endParaRPr sz="2400" dirty="0"/>
          </a:p>
        </p:txBody>
      </p:sp>
      <p:sp>
        <p:nvSpPr>
          <p:cNvPr id="471" name="Google Shape;471;p60">
            <a:extLst>
              <a:ext uri="{FF2B5EF4-FFF2-40B4-BE49-F238E27FC236}">
                <a16:creationId xmlns:a16="http://schemas.microsoft.com/office/drawing/2014/main" id="{FA984D38-661B-D252-3436-E74499A4A634}"/>
              </a:ext>
            </a:extLst>
          </p:cNvPr>
          <p:cNvSpPr/>
          <p:nvPr/>
        </p:nvSpPr>
        <p:spPr>
          <a:xfrm>
            <a:off x="339450" y="3887700"/>
            <a:ext cx="3063200" cy="11100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-GB" sz="2133" b="1">
                <a:solidFill>
                  <a:schemeClr val="dk1"/>
                </a:solidFill>
                <a:ea typeface="Helvetica Neue"/>
                <a:cs typeface="Helvetica Neue"/>
                <a:sym typeface="Helvetica Neue"/>
              </a:rPr>
              <a:t>Y -</a:t>
            </a:r>
            <a:r>
              <a:rPr lang="en-GB" sz="2133">
                <a:solidFill>
                  <a:schemeClr val="dk1"/>
                </a:solidFill>
                <a:ea typeface="Helvetica Neue"/>
                <a:cs typeface="Helvetica Neue"/>
                <a:sym typeface="Helvetica Neue"/>
              </a:rPr>
              <a:t> the </a:t>
            </a:r>
            <a:r>
              <a:rPr lang="en-GB" sz="2133" i="1">
                <a:solidFill>
                  <a:schemeClr val="dk1"/>
                </a:solidFill>
                <a:ea typeface="Helvetica Neue"/>
                <a:cs typeface="Helvetica Neue"/>
                <a:sym typeface="Helvetica Neue"/>
              </a:rPr>
              <a:t>dependent variable</a:t>
            </a:r>
            <a:r>
              <a:rPr lang="en-GB" sz="2133">
                <a:solidFill>
                  <a:schemeClr val="dk1"/>
                </a:solidFill>
                <a:ea typeface="Helvetica Neue"/>
                <a:cs typeface="Helvetica Neue"/>
                <a:sym typeface="Helvetica Neue"/>
              </a:rPr>
              <a:t>, is put onto the vertical axis. </a:t>
            </a:r>
            <a:endParaRPr sz="2400"/>
          </a:p>
        </p:txBody>
      </p:sp>
      <p:cxnSp>
        <p:nvCxnSpPr>
          <p:cNvPr id="473" name="Google Shape;473;p60">
            <a:extLst>
              <a:ext uri="{FF2B5EF4-FFF2-40B4-BE49-F238E27FC236}">
                <a16:creationId xmlns:a16="http://schemas.microsoft.com/office/drawing/2014/main" id="{7133990C-2EC0-14AF-967D-FFE58B864CDE}"/>
              </a:ext>
            </a:extLst>
          </p:cNvPr>
          <p:cNvCxnSpPr>
            <a:cxnSpLocks/>
            <a:stCxn id="471" idx="3"/>
          </p:cNvCxnSpPr>
          <p:nvPr/>
        </p:nvCxnSpPr>
        <p:spPr>
          <a:xfrm flipV="1">
            <a:off x="3402650" y="3365500"/>
            <a:ext cx="1334450" cy="1077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75" name="Google Shape;475;p60">
            <a:extLst>
              <a:ext uri="{FF2B5EF4-FFF2-40B4-BE49-F238E27FC236}">
                <a16:creationId xmlns:a16="http://schemas.microsoft.com/office/drawing/2014/main" id="{75E9CC34-750D-DF62-7C0B-D6B411D320C7}"/>
              </a:ext>
            </a:extLst>
          </p:cNvPr>
          <p:cNvCxnSpPr>
            <a:cxnSpLocks/>
            <a:stCxn id="470" idx="0"/>
          </p:cNvCxnSpPr>
          <p:nvPr/>
        </p:nvCxnSpPr>
        <p:spPr>
          <a:xfrm flipV="1">
            <a:off x="7348301" y="4305300"/>
            <a:ext cx="0" cy="8396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1D338872-E4E6-B57F-2392-E3B2F8846D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Bivariate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Google Shape;470;p60">
                <a:extLst>
                  <a:ext uri="{FF2B5EF4-FFF2-40B4-BE49-F238E27FC236}">
                    <a16:creationId xmlns:a16="http://schemas.microsoft.com/office/drawing/2014/main" id="{5CCA5950-5BB0-EB76-B6EC-F05D365BA949}"/>
                  </a:ext>
                </a:extLst>
              </p:cNvPr>
              <p:cNvSpPr/>
              <p:nvPr/>
            </p:nvSpPr>
            <p:spPr>
              <a:xfrm>
                <a:off x="2394051" y="5376673"/>
                <a:ext cx="3063200" cy="982000"/>
              </a:xfrm>
              <a:prstGeom prst="roundRect">
                <a:avLst>
                  <a:gd name="adj" fmla="val 16667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ctr">
                  <a:buClr>
                    <a:schemeClr val="dk1"/>
                  </a:buClr>
                  <a:buSzPts val="1100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sz="2400" dirty="0"/>
                  <a:t> - intercept is 0</a:t>
                </a:r>
                <a:endParaRPr sz="2400" dirty="0"/>
              </a:p>
            </p:txBody>
          </p:sp>
        </mc:Choice>
        <mc:Fallback xmlns="">
          <p:sp>
            <p:nvSpPr>
              <p:cNvPr id="5" name="Google Shape;470;p60">
                <a:extLst>
                  <a:ext uri="{FF2B5EF4-FFF2-40B4-BE49-F238E27FC236}">
                    <a16:creationId xmlns:a16="http://schemas.microsoft.com/office/drawing/2014/main" id="{5CCA5950-5BB0-EB76-B6EC-F05D365BA9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4051" y="5376673"/>
                <a:ext cx="3063200" cy="982000"/>
              </a:xfrm>
              <a:prstGeom prst="roundRect">
                <a:avLst>
                  <a:gd name="adj" fmla="val 16667"/>
                </a:avLst>
              </a:prstGeom>
              <a:blipFill>
                <a:blip r:embed="rId4"/>
                <a:stretch>
                  <a:fillRect/>
                </a:stretch>
              </a:blip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Google Shape;475;p60">
            <a:extLst>
              <a:ext uri="{FF2B5EF4-FFF2-40B4-BE49-F238E27FC236}">
                <a16:creationId xmlns:a16="http://schemas.microsoft.com/office/drawing/2014/main" id="{45A3B271-D586-15D0-F50B-3EE3F17E14B0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3925651" y="4019550"/>
            <a:ext cx="918049" cy="135712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Google Shape;470;p60">
                <a:extLst>
                  <a:ext uri="{FF2B5EF4-FFF2-40B4-BE49-F238E27FC236}">
                    <a16:creationId xmlns:a16="http://schemas.microsoft.com/office/drawing/2014/main" id="{78C49792-1158-CB33-6FAF-E43F523A9F38}"/>
                  </a:ext>
                </a:extLst>
              </p:cNvPr>
              <p:cNvSpPr/>
              <p:nvPr/>
            </p:nvSpPr>
            <p:spPr>
              <a:xfrm>
                <a:off x="9036151" y="4997700"/>
                <a:ext cx="3063200" cy="982000"/>
              </a:xfrm>
              <a:prstGeom prst="roundRect">
                <a:avLst>
                  <a:gd name="adj" fmla="val 16667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ctr">
                  <a:buClr>
                    <a:schemeClr val="dk1"/>
                  </a:buClr>
                  <a:buSzPts val="1100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400" dirty="0"/>
                  <a:t> - slope is 3</a:t>
                </a:r>
                <a:endParaRPr sz="2400" dirty="0"/>
              </a:p>
            </p:txBody>
          </p:sp>
        </mc:Choice>
        <mc:Fallback xmlns="">
          <p:sp>
            <p:nvSpPr>
              <p:cNvPr id="3" name="Google Shape;470;p60">
                <a:extLst>
                  <a:ext uri="{FF2B5EF4-FFF2-40B4-BE49-F238E27FC236}">
                    <a16:creationId xmlns:a16="http://schemas.microsoft.com/office/drawing/2014/main" id="{78C49792-1158-CB33-6FAF-E43F523A9F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6151" y="4997700"/>
                <a:ext cx="3063200" cy="982000"/>
              </a:xfrm>
              <a:prstGeom prst="roundRect">
                <a:avLst>
                  <a:gd name="adj" fmla="val 16667"/>
                </a:avLst>
              </a:prstGeom>
              <a:blipFill>
                <a:blip r:embed="rId5"/>
                <a:stretch>
                  <a:fillRect/>
                </a:stretch>
              </a:blip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oogle Shape;475;p60">
            <a:extLst>
              <a:ext uri="{FF2B5EF4-FFF2-40B4-BE49-F238E27FC236}">
                <a16:creationId xmlns:a16="http://schemas.microsoft.com/office/drawing/2014/main" id="{2B5A0023-417A-A378-5C4C-25DA78788B3F}"/>
              </a:ext>
            </a:extLst>
          </p:cNvPr>
          <p:cNvCxnSpPr>
            <a:cxnSpLocks/>
          </p:cNvCxnSpPr>
          <p:nvPr/>
        </p:nvCxnSpPr>
        <p:spPr>
          <a:xfrm flipH="1" flipV="1">
            <a:off x="7785987" y="3187700"/>
            <a:ext cx="1371439" cy="17960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26278159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2" name="Google Shape;482;p61"/>
          <p:cNvPicPr preferRelativeResize="0"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57520" y="2419253"/>
            <a:ext cx="5946863" cy="3019891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cxnSp>
        <p:nvCxnSpPr>
          <p:cNvPr id="484" name="Google Shape;484;p61"/>
          <p:cNvCxnSpPr>
            <a:cxnSpLocks/>
          </p:cNvCxnSpPr>
          <p:nvPr/>
        </p:nvCxnSpPr>
        <p:spPr>
          <a:xfrm>
            <a:off x="7655983" y="3927442"/>
            <a:ext cx="0" cy="360567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85" name="Google Shape;485;p61"/>
          <p:cNvCxnSpPr>
            <a:cxnSpLocks/>
          </p:cNvCxnSpPr>
          <p:nvPr/>
        </p:nvCxnSpPr>
        <p:spPr>
          <a:xfrm flipV="1">
            <a:off x="9576468" y="3538533"/>
            <a:ext cx="0" cy="73228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88" name="Google Shape;488;p61"/>
          <p:cNvSpPr/>
          <p:nvPr/>
        </p:nvSpPr>
        <p:spPr>
          <a:xfrm>
            <a:off x="6911020" y="2870200"/>
            <a:ext cx="1072167" cy="982894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-GB" sz="1200" dirty="0">
                <a:ea typeface="Helvetica Neue"/>
                <a:cs typeface="Helvetica Neue"/>
                <a:sym typeface="Helvetica Neue"/>
              </a:rPr>
              <a:t>Modelled Value of Y</a:t>
            </a:r>
            <a:endParaRPr sz="1200" dirty="0">
              <a:ea typeface="Helvetica Neue"/>
              <a:cs typeface="Helvetica Neue"/>
              <a:sym typeface="Helvetica Neue"/>
            </a:endParaRPr>
          </a:p>
          <a:p>
            <a:pPr algn="ctr"/>
            <a:r>
              <a:rPr lang="en-GB" sz="1200" b="1" dirty="0" err="1">
                <a:solidFill>
                  <a:schemeClr val="dk1"/>
                </a:solidFill>
                <a:ea typeface="Helvetica Neue"/>
                <a:cs typeface="Helvetica Neue"/>
                <a:sym typeface="Helvetica Neue"/>
              </a:rPr>
              <a:t>y</a:t>
            </a:r>
            <a:r>
              <a:rPr lang="en-GB" sz="1200" b="1" baseline="-25000" dirty="0" err="1">
                <a:solidFill>
                  <a:schemeClr val="dk1"/>
                </a:solidFill>
                <a:ea typeface="Helvetica Neue"/>
                <a:cs typeface="Helvetica Neue"/>
                <a:sym typeface="Helvetica Neue"/>
              </a:rPr>
              <a:t>i</a:t>
            </a:r>
            <a:endParaRPr lang="en-GB" sz="1200" b="1" baseline="-25000" dirty="0">
              <a:solidFill>
                <a:schemeClr val="dk1"/>
              </a:solidFill>
              <a:ea typeface="Helvetica Neue"/>
              <a:cs typeface="Helvetica Neue"/>
              <a:sym typeface="Helvetica Neue"/>
            </a:endParaRPr>
          </a:p>
          <a:p>
            <a:pPr algn="ctr"/>
            <a:r>
              <a:rPr lang="en-GB" sz="1200" dirty="0">
                <a:solidFill>
                  <a:schemeClr val="dk1"/>
                </a:solidFill>
                <a:ea typeface="Helvetica Neue"/>
                <a:cs typeface="Helvetica Neue"/>
                <a:sym typeface="Helvetica Neue"/>
              </a:rPr>
              <a:t>(i.e. the line)</a:t>
            </a:r>
            <a:endParaRPr sz="1200" dirty="0"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89" name="Google Shape;489;p61"/>
          <p:cNvSpPr/>
          <p:nvPr/>
        </p:nvSpPr>
        <p:spPr>
          <a:xfrm>
            <a:off x="6820333" y="5013300"/>
            <a:ext cx="1072167" cy="10700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-GB" sz="1200" dirty="0">
                <a:ea typeface="Helvetica Neue"/>
                <a:cs typeface="Helvetica Neue"/>
                <a:sym typeface="Helvetica Neue"/>
              </a:rPr>
              <a:t>Observed Value of Y</a:t>
            </a:r>
            <a:endParaRPr sz="1200" dirty="0">
              <a:ea typeface="Helvetica Neue"/>
              <a:cs typeface="Helvetica Neue"/>
              <a:sym typeface="Helvetica Neue"/>
            </a:endParaRPr>
          </a:p>
          <a:p>
            <a:pPr algn="ctr"/>
            <a:r>
              <a:rPr lang="en-GB" sz="1200" b="1" dirty="0" err="1">
                <a:solidFill>
                  <a:schemeClr val="dk1"/>
                </a:solidFill>
                <a:ea typeface="Helvetica Neue"/>
                <a:cs typeface="Helvetica Neue"/>
                <a:sym typeface="Helvetica Neue"/>
              </a:rPr>
              <a:t>y</a:t>
            </a:r>
            <a:r>
              <a:rPr lang="en-GB" sz="1200" b="1" baseline="-25000" dirty="0" err="1">
                <a:solidFill>
                  <a:schemeClr val="dk1"/>
                </a:solidFill>
                <a:ea typeface="Helvetica Neue"/>
                <a:cs typeface="Helvetica Neue"/>
                <a:sym typeface="Helvetica Neue"/>
              </a:rPr>
              <a:t>i</a:t>
            </a:r>
            <a:endParaRPr lang="en-GB" sz="1200" b="1" baseline="-25000" dirty="0">
              <a:solidFill>
                <a:schemeClr val="dk1"/>
              </a:solidFill>
              <a:ea typeface="Helvetica Neue"/>
              <a:cs typeface="Helvetica Neue"/>
              <a:sym typeface="Helvetica Neue"/>
            </a:endParaRPr>
          </a:p>
          <a:p>
            <a:pPr algn="ctr"/>
            <a:r>
              <a:rPr lang="en-GB" sz="1200" dirty="0">
                <a:solidFill>
                  <a:schemeClr val="dk1"/>
                </a:solidFill>
                <a:ea typeface="Helvetica Neue"/>
                <a:cs typeface="Helvetica Neue"/>
                <a:sym typeface="Helvetica Neue"/>
              </a:rPr>
              <a:t>(i.e. the points)</a:t>
            </a:r>
            <a:endParaRPr sz="933" dirty="0"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90" name="Google Shape;490;p61"/>
          <p:cNvSpPr/>
          <p:nvPr/>
        </p:nvSpPr>
        <p:spPr>
          <a:xfrm>
            <a:off x="9403402" y="3412073"/>
            <a:ext cx="287600" cy="292000"/>
          </a:xfrm>
          <a:prstGeom prst="ellipse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/>
          </a:p>
        </p:txBody>
      </p:sp>
      <p:sp>
        <p:nvSpPr>
          <p:cNvPr id="491" name="Google Shape;491;p61"/>
          <p:cNvSpPr/>
          <p:nvPr/>
        </p:nvSpPr>
        <p:spPr>
          <a:xfrm>
            <a:off x="9432668" y="4142009"/>
            <a:ext cx="287600" cy="292000"/>
          </a:xfrm>
          <a:prstGeom prst="ellipse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/>
          </a:p>
        </p:txBody>
      </p:sp>
      <p:sp>
        <p:nvSpPr>
          <p:cNvPr id="492" name="Google Shape;492;p61"/>
          <p:cNvSpPr/>
          <p:nvPr/>
        </p:nvSpPr>
        <p:spPr>
          <a:xfrm>
            <a:off x="9702800" y="3584071"/>
            <a:ext cx="143131" cy="686742"/>
          </a:xfrm>
          <a:prstGeom prst="rightBrace">
            <a:avLst>
              <a:gd name="adj1" fmla="val 50000"/>
              <a:gd name="adj2" fmla="val 50000"/>
            </a:avLst>
          </a:prstGeom>
          <a:noFill/>
          <a:ln w="19050" cap="flat" cmpd="sng">
            <a:solidFill>
              <a:srgbClr val="38761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3" name="Google Shape;493;p61"/>
              <p:cNvSpPr/>
              <p:nvPr/>
            </p:nvSpPr>
            <p:spPr>
              <a:xfrm>
                <a:off x="8483209" y="4397458"/>
                <a:ext cx="995600" cy="671600"/>
              </a:xfrm>
              <a:prstGeom prst="roundRect">
                <a:avLst>
                  <a:gd name="adj" fmla="val 16667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ctr"/>
                <a:r>
                  <a:rPr lang="en-GB" sz="1200" dirty="0">
                    <a:ea typeface="Helvetica Neue"/>
                    <a:cs typeface="Helvetica Neue"/>
                    <a:sym typeface="Helvetica Neue"/>
                  </a:rPr>
                  <a:t>Residual Value </a:t>
                </a:r>
                <a14:m>
                  <m:oMath xmlns:m="http://schemas.openxmlformats.org/officeDocument/2006/math"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sz="1200" dirty="0">
                  <a:ea typeface="Helvetica Neue"/>
                  <a:cs typeface="Helvetica Neue"/>
                  <a:sym typeface="Helvetica Neue"/>
                </a:endParaRPr>
              </a:p>
            </p:txBody>
          </p:sp>
        </mc:Choice>
        <mc:Fallback xmlns="">
          <p:sp>
            <p:nvSpPr>
              <p:cNvPr id="493" name="Google Shape;493;p6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3209" y="4397458"/>
                <a:ext cx="995600" cy="671600"/>
              </a:xfrm>
              <a:prstGeom prst="roundRect">
                <a:avLst>
                  <a:gd name="adj" fmla="val 16667"/>
                </a:avLst>
              </a:prstGeom>
              <a:blipFill>
                <a:blip r:embed="rId4"/>
                <a:stretch>
                  <a:fillRect/>
                </a:stretch>
              </a:blip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4" name="Google Shape;494;p61"/>
          <p:cNvSpPr txBox="1"/>
          <p:nvPr/>
        </p:nvSpPr>
        <p:spPr>
          <a:xfrm>
            <a:off x="7284142" y="3087231"/>
            <a:ext cx="352400" cy="451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-GB" sz="1333" b="1" dirty="0">
                <a:ea typeface="Courier New"/>
                <a:cs typeface="Courier New"/>
                <a:sym typeface="Courier New"/>
              </a:rPr>
              <a:t>^</a:t>
            </a:r>
            <a:endParaRPr sz="1333" b="1" dirty="0">
              <a:ea typeface="Courier New"/>
              <a:cs typeface="Courier New"/>
              <a:sym typeface="Courier New"/>
            </a:endParaRPr>
          </a:p>
        </p:txBody>
      </p:sp>
      <p:sp>
        <p:nvSpPr>
          <p:cNvPr id="501" name="Google Shape;501;p61"/>
          <p:cNvSpPr/>
          <p:nvPr/>
        </p:nvSpPr>
        <p:spPr>
          <a:xfrm>
            <a:off x="6820333" y="1348800"/>
            <a:ext cx="3634000" cy="677068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2" name="Google Shape;502;p61"/>
              <p:cNvSpPr txBox="1"/>
              <p:nvPr/>
            </p:nvSpPr>
            <p:spPr>
              <a:xfrm>
                <a:off x="6617933" y="1287201"/>
                <a:ext cx="4038800" cy="6886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1900" tIns="121900" rIns="121900" bIns="121900" anchor="t" anchorCtr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GB" sz="28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dirty="0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acc>
                      <m:r>
                        <a:rPr lang="en-GB" sz="2800" i="1" dirty="0">
                          <a:latin typeface="Cambria Math" panose="02040503050406030204" pitchFamily="18" charset="0"/>
                        </a:rPr>
                        <m:t> = </m:t>
                      </m:r>
                      <m:sSub>
                        <m:sSubPr>
                          <m:ctrlPr>
                            <a:rPr lang="en-GB" sz="28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2800" i="1" dirty="0"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lang="en-GB" sz="28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800" i="1" dirty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sz="2800" i="1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GB" sz="28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2" name="Google Shape;502;p6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933" y="1287201"/>
                <a:ext cx="4038800" cy="6886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3" name="Google Shape;503;p61"/>
              <p:cNvSpPr txBox="1"/>
              <p:nvPr/>
            </p:nvSpPr>
            <p:spPr>
              <a:xfrm>
                <a:off x="290585" y="1263206"/>
                <a:ext cx="4638800" cy="31392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spAutoFit/>
              </a:bodyPr>
              <a:lstStyle/>
              <a:p>
                <a:pPr algn="just">
                  <a:buClr>
                    <a:schemeClr val="dk1"/>
                  </a:buClr>
                  <a:buSzPts val="2400"/>
                </a:pPr>
                <a:r>
                  <a:rPr lang="en-GB" sz="1600" dirty="0">
                    <a:solidFill>
                      <a:schemeClr val="dk1"/>
                    </a:solidFill>
                    <a:ea typeface="Helvetica Neue"/>
                    <a:cs typeface="Helvetica Neue"/>
                    <a:sym typeface="Helvetica Neue"/>
                  </a:rPr>
                  <a:t>The error term (residuals) measure how far away our observed data is from the estimated regression line. </a:t>
                </a:r>
              </a:p>
              <a:p>
                <a:pPr algn="just">
                  <a:buClr>
                    <a:schemeClr val="dk1"/>
                  </a:buClr>
                  <a:buSzPts val="2400"/>
                </a:pPr>
                <a:endParaRPr lang="en-GB" sz="1600" dirty="0">
                  <a:solidFill>
                    <a:schemeClr val="dk1"/>
                  </a:solidFill>
                  <a:ea typeface="Helvetica Neue"/>
                  <a:cs typeface="Helvetica Neue"/>
                  <a:sym typeface="Helvetica Neue"/>
                </a:endParaRPr>
              </a:p>
              <a:p>
                <a:pPr algn="just">
                  <a:buClr>
                    <a:schemeClr val="dk1"/>
                  </a:buClr>
                  <a:buSzPts val="2400"/>
                </a:pPr>
                <a:r>
                  <a:rPr lang="en-GB" sz="1600" dirty="0">
                    <a:solidFill>
                      <a:schemeClr val="dk1"/>
                    </a:solidFill>
                    <a:ea typeface="Helvetica Neue"/>
                    <a:cs typeface="Helvetica Neue"/>
                    <a:sym typeface="Helvetica Neue"/>
                  </a:rPr>
                  <a:t>Each observation will have a respective modelled value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ar-SA" sz="160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sym typeface="Helvetica Neue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ar-SA" sz="16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  <a:sym typeface="Helvetica Neue"/>
                              </a:rPr>
                            </m:ctrlPr>
                          </m:sSubPr>
                          <m:e>
                            <m:r>
                              <a:rPr lang="ar-SA" sz="16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  <a:sym typeface="Helvetica Neue"/>
                              </a:rPr>
                              <m:t>𝑦</m:t>
                            </m:r>
                          </m:e>
                          <m:sub>
                            <m:r>
                              <a:rPr lang="en-GB" sz="16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  <a:sym typeface="Helvetica Neue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lang="en-GB" sz="16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sym typeface="Helvetica Neue"/>
                      </a:rPr>
                      <m:t>)</m:t>
                    </m:r>
                  </m:oMath>
                </a14:m>
                <a:r>
                  <a:rPr lang="en-GB" sz="1600" dirty="0">
                    <a:solidFill>
                      <a:schemeClr val="dk1"/>
                    </a:solidFill>
                    <a:ea typeface="Helvetica Neue"/>
                    <a:cs typeface="Helvetica Neue"/>
                    <a:sym typeface="Helvetica Neue"/>
                  </a:rPr>
                  <a:t>; and an error term (</a:t>
                </a:r>
                <a14:m>
                  <m:oMath xmlns:m="http://schemas.openxmlformats.org/officeDocument/2006/math">
                    <m:r>
                      <a:rPr lang="en-GB" sz="16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GB" sz="1600" dirty="0">
                    <a:solidFill>
                      <a:schemeClr val="dk1"/>
                    </a:solidFill>
                    <a:ea typeface="Helvetica Neue"/>
                    <a:cs typeface="Helvetica Neue"/>
                    <a:sym typeface="Helvetica Neue"/>
                  </a:rPr>
                  <a:t>)</a:t>
                </a:r>
              </a:p>
              <a:p>
                <a:pPr algn="just">
                  <a:buClr>
                    <a:schemeClr val="dk1"/>
                  </a:buClr>
                  <a:buSzPts val="2400"/>
                </a:pPr>
                <a:endParaRPr lang="en-GB" sz="1600" dirty="0">
                  <a:solidFill>
                    <a:schemeClr val="dk1"/>
                  </a:solidFill>
                  <a:ea typeface="Helvetica Neue"/>
                  <a:cs typeface="Helvetica Neue"/>
                  <a:sym typeface="Helvetica Neue"/>
                </a:endParaRPr>
              </a:p>
              <a:p>
                <a:pPr algn="just">
                  <a:buClr>
                    <a:schemeClr val="dk1"/>
                  </a:buClr>
                  <a:buSzPts val="2400"/>
                </a:pPr>
                <a:r>
                  <a:rPr lang="en-GB" sz="1600" dirty="0">
                    <a:ea typeface="Helvetica Neue"/>
                    <a:cs typeface="Helvetica Neue"/>
                    <a:sym typeface="Helvetica Neue"/>
                  </a:rPr>
                  <a:t>Every observation will therefore (after estimation) have: The true observed value; the fitted value; and the residual value. All describing the variation in Y</a:t>
                </a:r>
              </a:p>
              <a:p>
                <a:pPr algn="just">
                  <a:buClr>
                    <a:schemeClr val="dk1"/>
                  </a:buClr>
                  <a:buSzPts val="2400"/>
                </a:pPr>
                <a:endParaRPr sz="2000" dirty="0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</mc:Choice>
        <mc:Fallback xmlns="">
          <p:sp>
            <p:nvSpPr>
              <p:cNvPr id="503" name="Google Shape;503;p6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585" y="1263206"/>
                <a:ext cx="4638800" cy="3139266"/>
              </a:xfrm>
              <a:prstGeom prst="rect">
                <a:avLst/>
              </a:prstGeom>
              <a:blipFill>
                <a:blip r:embed="rId6"/>
                <a:stretch>
                  <a:fillRect l="-13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itle 1">
            <a:extLst>
              <a:ext uri="{FF2B5EF4-FFF2-40B4-BE49-F238E27FC236}">
                <a16:creationId xmlns:a16="http://schemas.microsoft.com/office/drawing/2014/main" id="{394A157E-2FF7-B70E-375C-88B33E5B5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0585" y="304018"/>
            <a:ext cx="10515600" cy="1325563"/>
          </a:xfrm>
        </p:spPr>
        <p:txBody>
          <a:bodyPr/>
          <a:lstStyle/>
          <a:p>
            <a:r>
              <a:rPr lang="en-GB" dirty="0"/>
              <a:t>Bivariate regression – error term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EE8F2-BDBE-0509-63C9-A96486935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Regression Hypothetical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501269-F2A7-1A63-25F8-30A4E2947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7875"/>
          </a:xfrm>
        </p:spPr>
        <p:txBody>
          <a:bodyPr>
            <a:normAutofit/>
          </a:bodyPr>
          <a:lstStyle/>
          <a:p>
            <a:r>
              <a:rPr lang="en-GB" dirty="0"/>
              <a:t>Survey of 250 people</a:t>
            </a:r>
          </a:p>
          <a:p>
            <a:r>
              <a:rPr lang="en-GB" dirty="0"/>
              <a:t>Dependent variable is their annual earnings (£)</a:t>
            </a:r>
          </a:p>
          <a:p>
            <a:r>
              <a:rPr lang="en-GB" dirty="0"/>
              <a:t>Independent variable is the university education (Y /  N)</a:t>
            </a:r>
          </a:p>
          <a:p>
            <a:r>
              <a:rPr lang="en-GB" dirty="0"/>
              <a:t>We also have data on:</a:t>
            </a:r>
          </a:p>
          <a:p>
            <a:pPr lvl="1"/>
            <a:r>
              <a:rPr lang="en-GB" dirty="0"/>
              <a:t>Hours worked per week</a:t>
            </a:r>
          </a:p>
          <a:p>
            <a:pPr lvl="1"/>
            <a:r>
              <a:rPr lang="en-GB" dirty="0"/>
              <a:t>Years in employment</a:t>
            </a:r>
          </a:p>
          <a:p>
            <a:r>
              <a:rPr lang="en-GB" b="1" dirty="0"/>
              <a:t>Alternative hypothesis</a:t>
            </a:r>
            <a:r>
              <a:rPr lang="en-GB" dirty="0"/>
              <a:t>: annual earnings will increase with university education</a:t>
            </a:r>
          </a:p>
          <a:p>
            <a:r>
              <a:rPr lang="en-GB" b="1" dirty="0"/>
              <a:t>Null hypothesis</a:t>
            </a:r>
            <a:r>
              <a:rPr lang="en-GB" dirty="0"/>
              <a:t>: there is no relationship between annual earnings and university education</a:t>
            </a:r>
          </a:p>
        </p:txBody>
      </p:sp>
    </p:spTree>
    <p:extLst>
      <p:ext uri="{BB962C8B-B14F-4D97-AF65-F5344CB8AC3E}">
        <p14:creationId xmlns:p14="http://schemas.microsoft.com/office/powerpoint/2010/main" val="18760109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87E8D-39A2-4A67-635B-1841CC2C7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630276A-53A0-42AF-A65B-792F1C871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5887"/>
            <a:ext cx="10515600" cy="1325563"/>
          </a:xfrm>
        </p:spPr>
        <p:txBody>
          <a:bodyPr/>
          <a:lstStyle/>
          <a:p>
            <a:r>
              <a:rPr lang="en-GB" dirty="0"/>
              <a:t>Bivariate regression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7219A48-CBC6-33BE-1F9E-32A20427E9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282700"/>
            <a:ext cx="5181600" cy="5575300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Unstandardized B: coefficient</a:t>
            </a:r>
          </a:p>
          <a:p>
            <a:r>
              <a:rPr lang="en-GB" dirty="0"/>
              <a:t>R</a:t>
            </a:r>
            <a:r>
              <a:rPr lang="en-GB" baseline="30000" dirty="0"/>
              <a:t>2</a:t>
            </a:r>
            <a:r>
              <a:rPr lang="en-GB" dirty="0"/>
              <a:t> : percentage variance explained</a:t>
            </a:r>
          </a:p>
          <a:p>
            <a:r>
              <a:rPr lang="en-GB" dirty="0"/>
              <a:t>F-ratio: ratio of explained variance to unexplained variance (higher is better)</a:t>
            </a:r>
          </a:p>
          <a:p>
            <a:r>
              <a:rPr lang="en-GB" dirty="0"/>
              <a:t>Sig.: p-value, the probability of a result at least as extreme as that observed assuming the null hypothesis is true, 0.05 conventional threshold</a:t>
            </a:r>
          </a:p>
          <a:p>
            <a:r>
              <a:rPr lang="en-GB" dirty="0"/>
              <a:t>Confidence interval: representation of uncertainty; a range of values likely to contain the true value (under certain assumptions); the </a:t>
            </a:r>
            <a:r>
              <a:rPr lang="en-GB" i="1" dirty="0"/>
              <a:t>percentage</a:t>
            </a:r>
            <a:r>
              <a:rPr lang="en-GB" dirty="0"/>
              <a:t> comes from the percentage of intervals expected to contain the true value if the study was repeated</a:t>
            </a:r>
          </a:p>
          <a:p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AD44C85-7F34-A8F5-4B4F-3B9D409DC4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4124" y="975348"/>
            <a:ext cx="3752850" cy="12858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2A93F0C-A3EC-6251-5521-41C1A3FBA9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4037" y="2482849"/>
            <a:ext cx="5153025" cy="166687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F42A6A1-EEDC-A9B1-7465-6CDFEF717B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9800" y="4503395"/>
            <a:ext cx="5861499" cy="1212174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0E2D85F8-446E-5D3E-020D-CEF52578CA26}"/>
              </a:ext>
            </a:extLst>
          </p:cNvPr>
          <p:cNvSpPr/>
          <p:nvPr/>
        </p:nvSpPr>
        <p:spPr>
          <a:xfrm>
            <a:off x="8264575" y="1317936"/>
            <a:ext cx="622300" cy="5334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C4B16E9-C035-1C1F-D666-3D13ED6D5044}"/>
              </a:ext>
            </a:extLst>
          </p:cNvPr>
          <p:cNvSpPr/>
          <p:nvPr/>
        </p:nvSpPr>
        <p:spPr>
          <a:xfrm>
            <a:off x="10204674" y="2895600"/>
            <a:ext cx="622300" cy="5334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B290F82-33B8-FCE9-4BE6-43E5C6C650B3}"/>
              </a:ext>
            </a:extLst>
          </p:cNvPr>
          <p:cNvSpPr/>
          <p:nvPr/>
        </p:nvSpPr>
        <p:spPr>
          <a:xfrm>
            <a:off x="7176261" y="4972619"/>
            <a:ext cx="622300" cy="7429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E8FE888-72C6-9E79-26D8-9C507C8AD243}"/>
              </a:ext>
            </a:extLst>
          </p:cNvPr>
          <p:cNvSpPr/>
          <p:nvPr/>
        </p:nvSpPr>
        <p:spPr>
          <a:xfrm>
            <a:off x="9816154" y="4951693"/>
            <a:ext cx="622300" cy="7429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532FBBA-D0DB-72C4-7132-477A054EEF96}"/>
              </a:ext>
            </a:extLst>
          </p:cNvPr>
          <p:cNvSpPr/>
          <p:nvPr/>
        </p:nvSpPr>
        <p:spPr>
          <a:xfrm>
            <a:off x="10438453" y="4674358"/>
            <a:ext cx="1442845" cy="109670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1863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C9DE7-8357-64D4-E8A0-EFF70BB31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B3C4630-663B-E63C-C2D5-8BF7086EA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5887"/>
            <a:ext cx="10515600" cy="1325563"/>
          </a:xfrm>
        </p:spPr>
        <p:txBody>
          <a:bodyPr/>
          <a:lstStyle/>
          <a:p>
            <a:r>
              <a:rPr lang="en-GB" dirty="0"/>
              <a:t>Bivariate regression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D945672-1E45-E6E9-5E01-2902C1BC35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282700"/>
            <a:ext cx="5181600" cy="5575300"/>
          </a:xfrm>
        </p:spPr>
        <p:txBody>
          <a:bodyPr>
            <a:normAutofit/>
          </a:bodyPr>
          <a:lstStyle/>
          <a:p>
            <a:r>
              <a:rPr lang="en-GB" dirty="0"/>
              <a:t>So, under this scenario we would reject the null hypothesis of no relationship</a:t>
            </a:r>
          </a:p>
          <a:p>
            <a:endParaRPr lang="en-GB" dirty="0"/>
          </a:p>
          <a:p>
            <a:r>
              <a:rPr lang="en-GB" b="1" u="sng" dirty="0"/>
              <a:t>BUT</a:t>
            </a:r>
            <a:r>
              <a:rPr lang="en-GB" dirty="0"/>
              <a:t> we have a problem!</a:t>
            </a:r>
          </a:p>
          <a:p>
            <a:endParaRPr lang="en-GB" dirty="0"/>
          </a:p>
          <a:p>
            <a:r>
              <a:rPr lang="en-GB" dirty="0"/>
              <a:t>Omitted variable bias i.e. potential confounders</a:t>
            </a:r>
          </a:p>
          <a:p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954FF6-8C43-776F-0E3F-C7955689C6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4124" y="975348"/>
            <a:ext cx="3752850" cy="128587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20B24CE-7D02-9C12-CA0B-FF3802814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4037" y="2482849"/>
            <a:ext cx="5153025" cy="16668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A173080-BCF0-6C14-02C1-4412E766D4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9800" y="4503395"/>
            <a:ext cx="5861499" cy="1212174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B0B6F478-377F-4F32-C9DB-C7947E02B5CF}"/>
              </a:ext>
            </a:extLst>
          </p:cNvPr>
          <p:cNvSpPr/>
          <p:nvPr/>
        </p:nvSpPr>
        <p:spPr>
          <a:xfrm>
            <a:off x="8264575" y="1317936"/>
            <a:ext cx="622300" cy="5334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A48EEE8-51EA-7D94-D3B7-44A2B719A85F}"/>
              </a:ext>
            </a:extLst>
          </p:cNvPr>
          <p:cNvSpPr/>
          <p:nvPr/>
        </p:nvSpPr>
        <p:spPr>
          <a:xfrm>
            <a:off x="10204674" y="2895600"/>
            <a:ext cx="622300" cy="5334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3EA6FC3-4403-C0C3-33DF-EEF438690472}"/>
              </a:ext>
            </a:extLst>
          </p:cNvPr>
          <p:cNvSpPr/>
          <p:nvPr/>
        </p:nvSpPr>
        <p:spPr>
          <a:xfrm>
            <a:off x="7176261" y="4972619"/>
            <a:ext cx="622300" cy="7429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80F8CDB-A5AC-442F-41DC-0C62F70E0690}"/>
              </a:ext>
            </a:extLst>
          </p:cNvPr>
          <p:cNvSpPr/>
          <p:nvPr/>
        </p:nvSpPr>
        <p:spPr>
          <a:xfrm>
            <a:off x="9816154" y="4951693"/>
            <a:ext cx="622300" cy="7429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837FFCC-60CA-217F-9274-870F5CD3861B}"/>
              </a:ext>
            </a:extLst>
          </p:cNvPr>
          <p:cNvSpPr/>
          <p:nvPr/>
        </p:nvSpPr>
        <p:spPr>
          <a:xfrm>
            <a:off x="10438453" y="4674358"/>
            <a:ext cx="1442845" cy="109670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1540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BE7EB59-1CF2-6C9E-545D-8C28AC89F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Multivariate regression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592E41D-2D8A-8BDA-444C-16A974B703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8842" y="2238233"/>
            <a:ext cx="5607287" cy="330652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80AD62C-9808-5C19-3F24-06A56AE811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81700" y="2238233"/>
            <a:ext cx="5827158" cy="3436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2702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59DBB-8C3B-CEDB-7DDD-D06767812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B21E5ED-9D6E-A7D9-0C73-2A1F3CA86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Multivariate regression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38444AE-4EFF-AEE9-D495-CB7B3D639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9087" y="1852612"/>
            <a:ext cx="8124825" cy="4791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7155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AC40D-D230-DBF4-F87F-C0745136E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Multivariate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3FE6BF0-D5FA-4ECD-D323-6722B0CCB5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 +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GB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Where: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 is university education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 is years worked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dirty="0"/>
                  <a:t> is hours worked per week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3FE6BF0-D5FA-4ECD-D323-6722B0CCB5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59062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488E39-A441-9D0F-8583-C5E70CBF6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Multivariate regression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C6D6F2-2C34-5C03-749C-3ED63033E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After controlling for Hours worked our coefficient for University education is reduced from 10498 to 8769</a:t>
            </a:r>
          </a:p>
          <a:p>
            <a:r>
              <a:rPr lang="en-GB" dirty="0"/>
              <a:t>The relationship between hours worked with both earnings and university education had inflated our coefficient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7596187-BE59-DEB8-DE0A-FF5B642E1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100" y="4213462"/>
            <a:ext cx="8305800" cy="16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7257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A055C-C707-87FE-693A-A9862E65E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1EBC217-5ED3-ACFB-3F46-3A6B41BA3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Interaction terms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57EEDE37-0B0F-CD14-44C6-2F67F6C70B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7398" y="2225533"/>
            <a:ext cx="5602215" cy="330652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C9E8E05-19AB-3BBC-1ABA-A122F03978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3074" y="2225533"/>
            <a:ext cx="5607288" cy="3306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3384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35A18-EC3E-3913-3674-AB0F644F0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E76CAC7-53A0-051D-F871-C2819B197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Interaction terms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C1E2A3B-6E98-D743-94DB-8D895AEB2D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3074" y="2225533"/>
            <a:ext cx="5607288" cy="3306525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F0CA4A5D-3A74-0FBC-5CD6-7F67A1111C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4160505"/>
          </a:xfrm>
        </p:spPr>
        <p:txBody>
          <a:bodyPr>
            <a:normAutofit/>
          </a:bodyPr>
          <a:lstStyle/>
          <a:p>
            <a:r>
              <a:rPr lang="en-GB" dirty="0"/>
              <a:t>University education </a:t>
            </a:r>
            <a:r>
              <a:rPr lang="en-GB" b="1" dirty="0"/>
              <a:t>interacts</a:t>
            </a:r>
            <a:r>
              <a:rPr lang="en-GB" dirty="0"/>
              <a:t> with years worked to determine earnings</a:t>
            </a:r>
          </a:p>
          <a:p>
            <a:r>
              <a:rPr lang="en-GB" dirty="0"/>
              <a:t>The effect of years worked is </a:t>
            </a:r>
            <a:r>
              <a:rPr lang="en-GB" b="1" dirty="0"/>
              <a:t>moderated by </a:t>
            </a:r>
            <a:r>
              <a:rPr lang="en-GB" dirty="0"/>
              <a:t>university education</a:t>
            </a:r>
          </a:p>
          <a:p>
            <a:r>
              <a:rPr lang="en-GB" dirty="0"/>
              <a:t>The slope for graduates is steeper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45214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4E9DC-F69E-7025-D1EB-FB33A1B8E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Interaction terms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4E057A-8788-9A17-AE88-6F543E61A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represent an interaction numerically by multiplying the independent variables together, and using this as an additional variable</a:t>
            </a:r>
          </a:p>
          <a:p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A0F08B5-C3EE-C76B-21BB-D79261D6ABE6}"/>
                  </a:ext>
                </a:extLst>
              </p:cNvPr>
              <p:cNvSpPr txBox="1"/>
              <p:nvPr/>
            </p:nvSpPr>
            <p:spPr>
              <a:xfrm>
                <a:off x="2014427" y="3429000"/>
                <a:ext cx="816314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sSub>
                        <m:sSubPr>
                          <m:ctrlPr>
                            <a:rPr lang="en-GB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4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2400" i="1" dirty="0"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lang="en-GB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i="1" dirty="0">
                          <a:latin typeface="Cambria Math" panose="02040503050406030204" pitchFamily="18" charset="0"/>
                        </a:rPr>
                        <m:t> +</m:t>
                      </m:r>
                      <m:sSub>
                        <m:sSubPr>
                          <m:ctrlPr>
                            <a:rPr lang="en-GB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GB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4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GB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24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4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en-GB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GB" sz="2400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)+ </m:t>
                      </m:r>
                      <m:r>
                        <a:rPr lang="en-GB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GB" sz="24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A0F08B5-C3EE-C76B-21BB-D79261D6A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4427" y="3429000"/>
                <a:ext cx="8163146" cy="461665"/>
              </a:xfrm>
              <a:prstGeom prst="rect">
                <a:avLst/>
              </a:prstGeom>
              <a:blipFill>
                <a:blip r:embed="rId2"/>
                <a:stretch>
                  <a:fillRect b="-16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D55AE9D-8962-4610-B0B5-C43DD40DE8C2}"/>
                  </a:ext>
                </a:extLst>
              </p:cNvPr>
              <p:cNvSpPr txBox="1"/>
              <p:nvPr/>
            </p:nvSpPr>
            <p:spPr>
              <a:xfrm>
                <a:off x="1607953" y="4364124"/>
                <a:ext cx="897609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sSub>
                        <m:sSubPr>
                          <m:ctrlPr>
                            <a:rPr lang="en-GB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4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2400" i="1" dirty="0"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lang="en-GB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𝑈𝑛𝑖</m:t>
                      </m:r>
                      <m:r>
                        <a:rPr lang="en-GB" sz="2400" i="1" dirty="0">
                          <a:latin typeface="Cambria Math" panose="02040503050406030204" pitchFamily="18" charset="0"/>
                        </a:rPr>
                        <m:t> +</m:t>
                      </m:r>
                      <m:sSub>
                        <m:sSubPr>
                          <m:ctrlPr>
                            <a:rPr lang="en-GB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𝑒𝑎𝑟𝑠</m:t>
                      </m:r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4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𝑜𝑢𝑟𝑠</m:t>
                      </m:r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4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𝑈𝑛𝑖</m:t>
                      </m:r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 ×</m:t>
                      </m:r>
                      <m:r>
                        <a:rPr lang="en-GB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𝑌𝑒𝑎𝑟𝑠</m:t>
                      </m:r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)+ </m:t>
                      </m:r>
                      <m:r>
                        <a:rPr lang="en-GB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GB" sz="2400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D55AE9D-8962-4610-B0B5-C43DD40DE8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7953" y="4364124"/>
                <a:ext cx="8976094" cy="461665"/>
              </a:xfrm>
              <a:prstGeom prst="rect">
                <a:avLst/>
              </a:prstGeom>
              <a:blipFill>
                <a:blip r:embed="rId3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00851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5721D-4936-8C63-9ABB-648370531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07C13-A784-91D9-66B5-42B12F8CF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Multivariate regression with interaction term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09838C0-ABBD-2AE2-B615-89AFF5C40237}"/>
                  </a:ext>
                </a:extLst>
              </p:cNvPr>
              <p:cNvSpPr txBox="1"/>
              <p:nvPr/>
            </p:nvSpPr>
            <p:spPr>
              <a:xfrm>
                <a:off x="1037231" y="1690688"/>
                <a:ext cx="10638068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dirty="0"/>
                  <a:t>Coefficients of Years and University should be interpreted together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dirty="0"/>
                  <a:t>For every one-year increase in years worked: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GB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GB" dirty="0"/>
                  <a:t>For non-university graduates, earnings increase by </a:t>
                </a:r>
                <a:r>
                  <a:rPr lang="en-GB" b="1" dirty="0"/>
                  <a:t>£178.66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GB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GB" dirty="0"/>
                  <a:t>For university graduates, earnings increase by £178.66 + £91.10 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GB" b="1" dirty="0"/>
                  <a:t> £270.00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09838C0-ABBD-2AE2-B615-89AFF5C402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231" y="1690688"/>
                <a:ext cx="10638068" cy="2031325"/>
              </a:xfrm>
              <a:prstGeom prst="rect">
                <a:avLst/>
              </a:prstGeom>
              <a:blipFill>
                <a:blip r:embed="rId2"/>
                <a:stretch>
                  <a:fillRect l="-344" t="-1198" b="-389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CE21417C-0DAD-58B4-2D01-4B574D56D1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0237" y="4157662"/>
            <a:ext cx="8391525" cy="201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43326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135D5-BCA0-C828-33AA-CAE9BD87A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Regression 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9D48D4-1E22-4430-FF2E-F22B1B99973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No omitted variable bias</a:t>
            </a:r>
          </a:p>
          <a:p>
            <a:endParaRPr lang="en-GB" dirty="0"/>
          </a:p>
          <a:p>
            <a:r>
              <a:rPr lang="en-GB" dirty="0"/>
              <a:t>Independence of observations</a:t>
            </a:r>
          </a:p>
          <a:p>
            <a:endParaRPr lang="en-GB" dirty="0"/>
          </a:p>
          <a:p>
            <a:r>
              <a:rPr lang="en-GB" dirty="0"/>
              <a:t>Normality of residuals</a:t>
            </a:r>
          </a:p>
          <a:p>
            <a:endParaRPr lang="en-GB" dirty="0"/>
          </a:p>
          <a:p>
            <a:r>
              <a:rPr lang="en-GB" dirty="0"/>
              <a:t>Homoscedasticity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486DBD0-105C-9AC3-1007-F7D734494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7156" y="265815"/>
            <a:ext cx="4866285" cy="331605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B4E7C6B7-FBFF-E62B-7377-26049B426A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4235" y="3945940"/>
            <a:ext cx="4778080" cy="2326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591982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49AE7-5514-1535-2D62-36A823096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6DA3E-9757-C4A3-6897-C68140476B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Regression – other diagnostics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E08756-74A3-F2B1-F91C-5150B52C74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10793819" cy="4351338"/>
          </a:xfrm>
        </p:spPr>
        <p:txBody>
          <a:bodyPr/>
          <a:lstStyle/>
          <a:p>
            <a:r>
              <a:rPr lang="en-GB" dirty="0"/>
              <a:t>Multicollinearity – independent variables ideally not highly correlated with one another</a:t>
            </a:r>
          </a:p>
          <a:p>
            <a:pPr lvl="1"/>
            <a:r>
              <a:rPr lang="en-GB" dirty="0"/>
              <a:t>Variance inflation factor – below 5</a:t>
            </a:r>
          </a:p>
          <a:p>
            <a:endParaRPr lang="en-GB" dirty="0"/>
          </a:p>
          <a:p>
            <a:r>
              <a:rPr lang="en-GB" dirty="0"/>
              <a:t>Outliers – can bias the coefficient estimate</a:t>
            </a:r>
          </a:p>
          <a:p>
            <a:pPr lvl="1"/>
            <a:r>
              <a:rPr lang="en-GB" dirty="0"/>
              <a:t>Need strong justification to remove outliers e.g. data entry error</a:t>
            </a:r>
          </a:p>
        </p:txBody>
      </p:sp>
    </p:spTree>
    <p:extLst>
      <p:ext uri="{BB962C8B-B14F-4D97-AF65-F5344CB8AC3E}">
        <p14:creationId xmlns:p14="http://schemas.microsoft.com/office/powerpoint/2010/main" val="5008616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0B5C2-3F8B-7EA8-ADE6-6DB6F26B4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93814-0C80-63EE-8091-01EAC4985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B92A88-0988-73F7-4FFA-4A5EF4FA393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Often used for managing skewed variables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Income</a:t>
            </a:r>
          </a:p>
          <a:p>
            <a:pPr lvl="1"/>
            <a:r>
              <a:rPr lang="en-GB" dirty="0"/>
              <a:t>House prices</a:t>
            </a:r>
          </a:p>
          <a:p>
            <a:r>
              <a:rPr lang="en-GB" dirty="0"/>
              <a:t>Most common is log transformation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42DDEC-F5D0-4DC5-FD4C-ADBAC0CE8F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4113" y="117402"/>
            <a:ext cx="6312194" cy="30547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0204E9-09AF-7CB6-D8C7-8F282EEF06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806" y="3600822"/>
            <a:ext cx="6312194" cy="305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3652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29682-3418-F833-ABE9-87E4A35F9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038C2E6-5085-53ED-66C7-A6CA50BE9C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63769" y="1889423"/>
                <a:ext cx="10515600" cy="4351338"/>
              </a:xfrm>
            </p:spPr>
            <p:txBody>
              <a:bodyPr/>
              <a:lstStyle/>
              <a:p>
                <a:r>
                  <a:rPr lang="en-GB" dirty="0"/>
                  <a:t>Log transformation changes the way we interpret the coefficients</a:t>
                </a:r>
              </a:p>
              <a:p>
                <a:r>
                  <a:rPr lang="en-GB" dirty="0"/>
                  <a:t>Interpret them as percentage changes</a:t>
                </a:r>
              </a:p>
              <a:p>
                <a:r>
                  <a:rPr lang="en-GB" dirty="0"/>
                  <a:t>Log transformed dependent variable: </a:t>
                </a:r>
                <a:r>
                  <a:rPr lang="en-GB" i="1" dirty="0"/>
                  <a:t>exponentiate the coefficient. </a:t>
                </a:r>
                <a:r>
                  <a:rPr lang="en-GB" dirty="0"/>
                  <a:t>For every one unit increase in X, Y increases by a factor equal to the exponentiated coefficient</a:t>
                </a:r>
              </a:p>
              <a:p>
                <a:r>
                  <a:rPr lang="en-GB" dirty="0"/>
                  <a:t>Hypothetical example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GB" dirty="0"/>
                  <a:t> = 0.41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sup>
                    </m:sSup>
                  </m:oMath>
                </a14:m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GB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718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41</m:t>
                        </m:r>
                      </m:sup>
                    </m:sSup>
                  </m:oMath>
                </a14:m>
                <a:r>
                  <a:rPr lang="en-GB" dirty="0"/>
                  <a:t> = 1.507</a:t>
                </a:r>
              </a:p>
              <a:p>
                <a:pPr lvl="1"/>
                <a:r>
                  <a:rPr lang="en-GB" dirty="0"/>
                  <a:t>Y increases by roughly 50% for every one unit increase in X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038C2E6-5085-53ED-66C7-A6CA50BE9C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3769" y="1889423"/>
                <a:ext cx="10515600" cy="4351338"/>
              </a:xfrm>
              <a:blipFill>
                <a:blip r:embed="rId2"/>
                <a:stretch>
                  <a:fillRect l="-1043" t="-2521" r="-173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40FAC39-6A6B-AB99-7DB0-B6F150621AA3}"/>
                  </a:ext>
                </a:extLst>
              </p:cNvPr>
              <p:cNvSpPr txBox="1"/>
              <p:nvPr/>
            </p:nvSpPr>
            <p:spPr>
              <a:xfrm>
                <a:off x="8738191" y="0"/>
                <a:ext cx="3453809" cy="175432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GB" dirty="0"/>
                  <a:t>Exponentiate means to raise a mathematical constant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GB" dirty="0"/>
                  <a:t> to the power of another number.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GB" dirty="0"/>
                  <a:t> is roughly 2.718. And in this case, the power it is raised to is the value of the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GB" dirty="0"/>
                  <a:t> coefficient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40FAC39-6A6B-AB99-7DB0-B6F150621A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91" y="0"/>
                <a:ext cx="3453809" cy="1754326"/>
              </a:xfrm>
              <a:prstGeom prst="rect">
                <a:avLst/>
              </a:prstGeom>
              <a:blipFill>
                <a:blip r:embed="rId3"/>
                <a:stretch>
                  <a:fillRect l="-1228" t="-1031" b="-412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FB1B6958-0632-120D-E45F-9A91C9A13F09}"/>
              </a:ext>
            </a:extLst>
          </p:cNvPr>
          <p:cNvCxnSpPr>
            <a:cxnSpLocks/>
            <a:stCxn id="6" idx="2"/>
          </p:cNvCxnSpPr>
          <p:nvPr/>
        </p:nvCxnSpPr>
        <p:spPr>
          <a:xfrm rot="16200000" flipH="1">
            <a:off x="10123502" y="2095920"/>
            <a:ext cx="1244058" cy="560870"/>
          </a:xfrm>
          <a:prstGeom prst="bentConnector3">
            <a:avLst>
              <a:gd name="adj1" fmla="val 10685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19041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7C7FB-D95B-31AF-2FBF-FEA9DD6D1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378E82-A7F9-1024-B300-BC219E2160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Log transformed independent variable: </a:t>
                </a:r>
                <a:r>
                  <a:rPr lang="en-GB" i="1" dirty="0"/>
                  <a:t>divide the coefficient by 100</a:t>
                </a:r>
                <a:r>
                  <a:rPr lang="en-GB" dirty="0"/>
                  <a:t>. A 1% increase in the independent variable increases (or decreases) the dependent variable by (coefficient/100) units</a:t>
                </a:r>
              </a:p>
              <a:p>
                <a:r>
                  <a:rPr lang="en-GB" dirty="0"/>
                  <a:t>Hypothetical example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GB" dirty="0"/>
                  <a:t> = 5.20</a:t>
                </a:r>
              </a:p>
              <a:p>
                <a:pPr lvl="1"/>
                <a:r>
                  <a:rPr lang="en-GB" dirty="0"/>
                  <a:t>For every one-unit increase in X, Y increases by 5.20/100 = 0.052</a:t>
                </a:r>
              </a:p>
              <a:p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378E82-A7F9-1024-B300-BC219E2160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6494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B48AC-ADE8-4DE3-0C99-8F01BE1CE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4DE20B-90A6-18D6-B9C9-0D1F1E70DF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Log-log model i.e. log transformed dependent and independent variable</a:t>
            </a:r>
          </a:p>
          <a:p>
            <a:r>
              <a:rPr lang="en-GB" dirty="0"/>
              <a:t>Interpret the coefficient as the percent increase in the dependent variable for every 1% increase in the independent variable</a:t>
            </a:r>
          </a:p>
        </p:txBody>
      </p:sp>
    </p:spTree>
    <p:extLst>
      <p:ext uri="{BB962C8B-B14F-4D97-AF65-F5344CB8AC3E}">
        <p14:creationId xmlns:p14="http://schemas.microsoft.com/office/powerpoint/2010/main" val="36755637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26858-F9AD-D0D1-2D3C-B6248140E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F429E-3A94-446D-A29B-5BC60769D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5187950"/>
          </a:xfrm>
        </p:spPr>
        <p:txBody>
          <a:bodyPr>
            <a:normAutofit fontScale="85000" lnSpcReduction="10000"/>
          </a:bodyPr>
          <a:lstStyle/>
          <a:p>
            <a:r>
              <a:rPr lang="en-GB" dirty="0"/>
              <a:t>Regression is a statistical method that can be used for inference and prediction</a:t>
            </a:r>
          </a:p>
          <a:p>
            <a:r>
              <a:rPr lang="en-GB" dirty="0"/>
              <a:t>It is modelled using an:</a:t>
            </a:r>
          </a:p>
          <a:p>
            <a:pPr lvl="1"/>
            <a:r>
              <a:rPr lang="en-GB" dirty="0"/>
              <a:t>Intercept – the point where the slope crosses the y-axis</a:t>
            </a:r>
          </a:p>
          <a:p>
            <a:pPr lvl="1"/>
            <a:r>
              <a:rPr lang="en-GB" dirty="0"/>
              <a:t>Coefficient (i.e. slope) – the steepness of the line i.e. response of Y to one unit increase in X</a:t>
            </a:r>
          </a:p>
          <a:p>
            <a:pPr lvl="1"/>
            <a:r>
              <a:rPr lang="en-GB" dirty="0"/>
              <a:t>Error term – residual distance between the observed value and the modelled value</a:t>
            </a:r>
          </a:p>
          <a:p>
            <a:r>
              <a:rPr lang="en-GB" dirty="0"/>
              <a:t>Accompanied by statistics to evaluate the model:</a:t>
            </a:r>
          </a:p>
          <a:p>
            <a:pPr lvl="1"/>
            <a:r>
              <a:rPr lang="en-GB" dirty="0"/>
              <a:t>R</a:t>
            </a:r>
            <a:r>
              <a:rPr lang="en-GB" baseline="30000" dirty="0"/>
              <a:t>2 </a:t>
            </a:r>
            <a:r>
              <a:rPr lang="en-GB" dirty="0"/>
              <a:t>:</a:t>
            </a:r>
            <a:r>
              <a:rPr lang="en-GB" baseline="30000" dirty="0"/>
              <a:t> </a:t>
            </a:r>
            <a:r>
              <a:rPr lang="en-GB" dirty="0"/>
              <a:t>goodness of fit</a:t>
            </a:r>
          </a:p>
          <a:p>
            <a:pPr lvl="1"/>
            <a:r>
              <a:rPr lang="en-GB" dirty="0"/>
              <a:t>p-value: below 0.05 conventional threshold for statistical significance</a:t>
            </a:r>
          </a:p>
          <a:p>
            <a:pPr lvl="1"/>
            <a:r>
              <a:rPr lang="en-GB" dirty="0"/>
              <a:t>Confidence intervals: range of likely values for the true value</a:t>
            </a:r>
          </a:p>
          <a:p>
            <a:r>
              <a:rPr lang="en-GB" dirty="0"/>
              <a:t>Regression makes assumptions about the data which need checking</a:t>
            </a:r>
          </a:p>
          <a:p>
            <a:r>
              <a:rPr lang="en-GB" dirty="0"/>
              <a:t>Interactions model the moderation of two variables by one another</a:t>
            </a:r>
          </a:p>
          <a:p>
            <a:r>
              <a:rPr lang="en-GB" dirty="0"/>
              <a:t>Transformations can deal with skewed variable but change the interpretation of coefficients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69550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608-E4A5-056D-63FE-2BA9D107C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Workshop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E2723B-F3B4-4635-B327-FB85F275A4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Do perceptions of Keir Starmer’s competency vary by social class?</a:t>
            </a:r>
          </a:p>
          <a:p>
            <a:pPr lvl="1"/>
            <a:r>
              <a:rPr lang="en-GB" dirty="0"/>
              <a:t>Null hypothesis: there is no relationship between social class and perceptions of Starmer’s competency</a:t>
            </a:r>
          </a:p>
          <a:p>
            <a:pPr lvl="1"/>
            <a:r>
              <a:rPr lang="en-GB" dirty="0"/>
              <a:t>Alternative hypothesis: Manual, partly skilled and unskilled occupations will see Starmer as less competent than professional occupations</a:t>
            </a:r>
          </a:p>
          <a:p>
            <a:r>
              <a:rPr lang="en-GB" dirty="0"/>
              <a:t>Were low house prices associated with support for Brexit?</a:t>
            </a:r>
          </a:p>
          <a:p>
            <a:pPr lvl="1"/>
            <a:r>
              <a:rPr lang="en-GB" dirty="0"/>
              <a:t>Null hypothesis: there is no relationship between house prices and support for Leave in the 2016 referendum</a:t>
            </a:r>
          </a:p>
          <a:p>
            <a:pPr lvl="1"/>
            <a:r>
              <a:rPr lang="en-GB" dirty="0"/>
              <a:t>Alternative hypothesis: house prices are negatively associated with support for Leave in the 2016 referendum</a:t>
            </a:r>
          </a:p>
        </p:txBody>
      </p:sp>
    </p:spTree>
    <p:extLst>
      <p:ext uri="{BB962C8B-B14F-4D97-AF65-F5344CB8AC3E}">
        <p14:creationId xmlns:p14="http://schemas.microsoft.com/office/powerpoint/2010/main" val="3075798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415</TotalTime>
  <Words>1178</Words>
  <Application>Microsoft Office PowerPoint</Application>
  <PresentationFormat>Widescreen</PresentationFormat>
  <Paragraphs>152</Paragraphs>
  <Slides>25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Helvetica Neue</vt:lpstr>
      <vt:lpstr>Aptos</vt:lpstr>
      <vt:lpstr>Aptos Display</vt:lpstr>
      <vt:lpstr>Arial</vt:lpstr>
      <vt:lpstr>Cambria Math</vt:lpstr>
      <vt:lpstr>Courier New</vt:lpstr>
      <vt:lpstr>Office Theme</vt:lpstr>
      <vt:lpstr>Multivariate Regression</vt:lpstr>
      <vt:lpstr>Content</vt:lpstr>
      <vt:lpstr>Regression</vt:lpstr>
      <vt:lpstr>Bivariate regression</vt:lpstr>
      <vt:lpstr>Bivariate regression</vt:lpstr>
      <vt:lpstr>Bivariate regression – error term</vt:lpstr>
      <vt:lpstr>Regression Hypothetical Example</vt:lpstr>
      <vt:lpstr>Bivariate regression</vt:lpstr>
      <vt:lpstr>Bivariate regression</vt:lpstr>
      <vt:lpstr>Multivariate regression</vt:lpstr>
      <vt:lpstr>Multivariate regression</vt:lpstr>
      <vt:lpstr>Multivariate regression</vt:lpstr>
      <vt:lpstr>Multivariate regression</vt:lpstr>
      <vt:lpstr>Interaction terms</vt:lpstr>
      <vt:lpstr>Interaction terms</vt:lpstr>
      <vt:lpstr>Interaction terms</vt:lpstr>
      <vt:lpstr>Multivariate regression with interaction term</vt:lpstr>
      <vt:lpstr>Regression assumptions</vt:lpstr>
      <vt:lpstr>Regression – other diagnostics</vt:lpstr>
      <vt:lpstr>Transformation</vt:lpstr>
      <vt:lpstr>Transformation</vt:lpstr>
      <vt:lpstr>Transformation</vt:lpstr>
      <vt:lpstr>Transformation</vt:lpstr>
      <vt:lpstr>Summary</vt:lpstr>
      <vt:lpstr>Workshop examples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Marshall</dc:creator>
  <cp:lastModifiedBy>Michael Marshall</cp:lastModifiedBy>
  <cp:revision>15</cp:revision>
  <dcterms:created xsi:type="dcterms:W3CDTF">2026-02-23T09:27:40Z</dcterms:created>
  <dcterms:modified xsi:type="dcterms:W3CDTF">2026-02-25T09:31:59Z</dcterms:modified>
</cp:coreProperties>
</file>