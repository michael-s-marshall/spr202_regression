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9" r:id="rId4"/>
    <p:sldId id="279" r:id="rId5"/>
    <p:sldId id="258" r:id="rId6"/>
    <p:sldId id="275" r:id="rId7"/>
    <p:sldId id="278" r:id="rId8"/>
    <p:sldId id="276" r:id="rId9"/>
    <p:sldId id="260" r:id="rId10"/>
    <p:sldId id="261" r:id="rId11"/>
    <p:sldId id="283" r:id="rId12"/>
    <p:sldId id="280" r:id="rId13"/>
    <p:sldId id="281" r:id="rId14"/>
    <p:sldId id="262" r:id="rId15"/>
    <p:sldId id="282" r:id="rId16"/>
    <p:sldId id="284" r:id="rId17"/>
    <p:sldId id="285" r:id="rId18"/>
    <p:sldId id="297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6" r:id="rId29"/>
    <p:sldId id="29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A92D9-631B-410E-9D89-18B4D709E90A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DB790-9223-4623-8753-600EBEC66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859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59917ac249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59917ac249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>
          <a:extLst>
            <a:ext uri="{FF2B5EF4-FFF2-40B4-BE49-F238E27FC236}">
              <a16:creationId xmlns:a16="http://schemas.microsoft.com/office/drawing/2014/main" id="{BCDC39C3-9045-A64B-A742-0D3B311D8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59917ac249_0_225:notes">
            <a:extLst>
              <a:ext uri="{FF2B5EF4-FFF2-40B4-BE49-F238E27FC236}">
                <a16:creationId xmlns:a16="http://schemas.microsoft.com/office/drawing/2014/main" id="{1509A748-8286-E030-698E-6387A1E280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59917ac249_0_225:notes">
            <a:extLst>
              <a:ext uri="{FF2B5EF4-FFF2-40B4-BE49-F238E27FC236}">
                <a16:creationId xmlns:a16="http://schemas.microsoft.com/office/drawing/2014/main" id="{C1D3A26F-A923-54B3-154B-EE04D3B164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6705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59917ac249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159917ac249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44C7-15E0-C3AF-39D6-2CE346C51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06C20-9318-7DF1-ADEC-B800B8FFA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F3329-E9C5-8B0C-873D-94DEE41CC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C22D-C5EF-42CE-977C-83E461155C1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C3B42-7C95-7EAE-ED1A-E00B6EF6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49410-4FBD-FBEF-23CF-5B698DC4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11D6-76D2-480D-914C-AAE6DB26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177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90591-5A1F-2E8B-0E79-CE5C0BBBC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2FD34-D745-E803-7E6B-D38423FAA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FA899-F902-E3FC-C152-E8EDDE1EC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C22D-C5EF-42CE-977C-83E461155C1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B9217-7D4D-2706-7B21-C76E464BC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057DA-C24E-3DF2-78BC-D84AB7231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11D6-76D2-480D-914C-AAE6DB26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41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9577D-BFDA-6E3A-5F89-8B86AF18D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4D1F8-6082-13B6-6F04-689EEBE6D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2D3C3-C075-97B6-B913-BF13B3592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C22D-C5EF-42CE-977C-83E461155C1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0F80-3292-DEB8-1A14-5DACD3A8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E6534-C9DB-AC74-1757-84029541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11D6-76D2-480D-914C-AAE6DB26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71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85631-7663-3FE9-4CEE-CADDAA062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72956-4B6F-CD13-0016-FB44E35E5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DA0B0-B56D-B110-0C8A-ED4547688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82BD4-289B-F970-64A7-47CE3E2EC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C22D-C5EF-42CE-977C-83E461155C1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10F91-1AA4-CC3F-678A-1852B31B9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A8861-3627-D73D-453B-FF9B64317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11D6-76D2-480D-914C-AAE6DB26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107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A4EDC-FF8F-A502-2D1E-E97835157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6A066-D6CE-2D82-7E47-0AC050953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50CFE-C975-4B1B-7495-EAD280E19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A6A991-92AB-82B7-72A7-A31E897DE5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C81574-4124-DE5F-FC81-AA08D7B1D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603741-F736-67D6-D5BF-A4F008A07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C22D-C5EF-42CE-977C-83E461155C1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D053B-6106-E9FA-27CE-4B61A6FB7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05EB2B-4377-A64A-D065-EE4850755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11D6-76D2-480D-914C-AAE6DB26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941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E83D-B611-3735-4274-4475DB6A3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E1FA13-AC01-9318-AA4C-21AEB3EF9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C22D-C5EF-42CE-977C-83E461155C1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936AC8-993C-89F6-EB5B-130A65210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53F74-2B50-EBD2-7A92-67722FB7E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11D6-76D2-480D-914C-AAE6DB26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2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D5BF2E-C461-4F86-0546-2290BADD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C22D-C5EF-42CE-977C-83E461155C1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9DCD38-9F7D-C6CC-C5A2-DFF7BA0AB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5F672-1BDF-55C2-7F54-1B6F6CF8A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11D6-76D2-480D-914C-AAE6DB26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0067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FD90-3079-6534-0402-B6D1F95D3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2082E-43AA-E711-DCBF-056A0D4C5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91E6C-3343-1D08-E7EA-9C31EE9B1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B7F5C-3697-C36D-4B53-DEAE35C5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C22D-C5EF-42CE-977C-83E461155C1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1F57D-7B53-503A-DC57-1660F8F0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31A7C-B01E-BA98-9F8D-36142624E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11D6-76D2-480D-914C-AAE6DB26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906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6DC4A-205E-A201-ABBC-ABB42DCF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FE23D7-BA86-2794-D959-C2BC7EC573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E382A-AF09-E248-A77D-8AFF8BED2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9EEC7-1607-2300-9753-6CB1EC75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C22D-C5EF-42CE-977C-83E461155C1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146C8-D1E6-4FC2-5A5A-F4D47FC15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21554-A486-67AD-F48D-6F50C10F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11D6-76D2-480D-914C-AAE6DB26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1059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33F90-1F72-3EF4-BE4F-4CF49D6CA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CAD5C-DC11-DDCE-1074-F87DEF93C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647C7-16B4-3B2A-FC84-3D16C71D2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C22D-C5EF-42CE-977C-83E461155C1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B49FF-EC2C-5000-177E-3141F2F44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952BE-52F8-C2BF-C02B-9EE28CA09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11D6-76D2-480D-914C-AAE6DB26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47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28BDFE-D101-2F66-2953-D44CB431D5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31A88-C93D-D675-640A-4E1B9647D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D6FA5-C8C6-DA47-A736-AE4C98DD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C22D-C5EF-42CE-977C-83E461155C1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5EA8-93AB-2D9C-CA76-AA1B00144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24B1B-EA03-9CBD-EE92-CF1BD2BC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11D6-76D2-480D-914C-AAE6DB26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26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875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F2703-72CC-1FC1-F153-A768805E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1D2EC-54A4-D708-67CB-EC8CF7C8C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3027A-3FFF-F278-7C77-2D7F605CF3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03C22D-C5EF-42CE-977C-83E461155C1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6ECDF-90FB-7494-8CFD-5EDE46BBE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D4D74-2720-FD7B-0072-EDAD1A556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9711D6-76D2-480D-914C-AAE6DB26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867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A79BF-5BA2-2FF0-BD33-1343870A72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Multivariate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B85BB-75CE-6818-1A62-CA015D87D6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Dr Michael Marshall</a:t>
            </a:r>
          </a:p>
        </p:txBody>
      </p:sp>
    </p:spTree>
    <p:extLst>
      <p:ext uri="{BB962C8B-B14F-4D97-AF65-F5344CB8AC3E}">
        <p14:creationId xmlns:p14="http://schemas.microsoft.com/office/powerpoint/2010/main" val="92264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50F20-6956-7EA7-5E6F-A9E89CFA8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9AE66-68C1-CEC0-1CD9-84C587EFC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r>
              <a:rPr lang="en-GB" dirty="0"/>
              <a:t>Bivariate regression – what is it, why do we use it, how does it work</a:t>
            </a:r>
          </a:p>
          <a:p>
            <a:r>
              <a:rPr lang="en-GB" dirty="0"/>
              <a:t>Bivariate regression – worked example and interpretation</a:t>
            </a:r>
          </a:p>
          <a:p>
            <a:r>
              <a:rPr lang="en-GB" dirty="0"/>
              <a:t>Multivariate regression – purpose, worked example, interpretation</a:t>
            </a:r>
          </a:p>
          <a:p>
            <a:r>
              <a:rPr lang="en-GB" dirty="0"/>
              <a:t>Interactions</a:t>
            </a:r>
          </a:p>
          <a:p>
            <a:r>
              <a:rPr lang="en-GB" dirty="0"/>
              <a:t>Assumptions of regression</a:t>
            </a:r>
          </a:p>
          <a:p>
            <a:r>
              <a:rPr lang="en-GB" dirty="0"/>
              <a:t>Transformations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7742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A35D6-B503-A6C8-350C-B6ABECF73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 vs. correlation</a:t>
            </a:r>
          </a:p>
        </p:txBody>
      </p:sp>
      <p:pic>
        <p:nvPicPr>
          <p:cNvPr id="4" name="Google Shape;345;p40">
            <a:extLst>
              <a:ext uri="{FF2B5EF4-FFF2-40B4-BE49-F238E27FC236}">
                <a16:creationId xmlns:a16="http://schemas.microsoft.com/office/drawing/2014/main" id="{E2AE3E3F-5DB3-4E03-2E69-60FDF9D81B6C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3122" y="1825625"/>
            <a:ext cx="6745756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3359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5C442-5CC3-2358-670B-C573DE3B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BC9C-D05E-1A5B-9C2B-836F15E16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 vs. correlation</a:t>
            </a:r>
          </a:p>
        </p:txBody>
      </p:sp>
      <p:pic>
        <p:nvPicPr>
          <p:cNvPr id="4" name="Google Shape;345;p40">
            <a:extLst>
              <a:ext uri="{FF2B5EF4-FFF2-40B4-BE49-F238E27FC236}">
                <a16:creationId xmlns:a16="http://schemas.microsoft.com/office/drawing/2014/main" id="{A52B69AC-5250-895E-5AC9-2CF2471D7674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3122" y="1825625"/>
            <a:ext cx="6745756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500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7778-368D-C654-0045-7F32A0E4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612520-DA04-C6B6-9B52-0B05F7A98E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82950"/>
                <a:ext cx="10515600" cy="2838450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GB" sz="3200" i="1" dirty="0" err="1" smtClean="0">
                          <a:latin typeface="Cambria Math" panose="02040503050406030204" pitchFamily="18" charset="0"/>
                        </a:rPr>
                        <m:t>𝑏𝑥</m:t>
                      </m:r>
                    </m:oMath>
                  </m:oMathPara>
                </a14:m>
                <a:endParaRPr sz="3200" dirty="0"/>
              </a:p>
              <a:p>
                <a:endParaRPr lang="en-GB" sz="3200" dirty="0"/>
              </a:p>
              <a:p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3200" dirty="0"/>
                  <a:t> is a continuous dependent variable</a:t>
                </a:r>
              </a:p>
              <a:p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3200" dirty="0"/>
                  <a:t> is the independent variable</a:t>
                </a:r>
              </a:p>
              <a:p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3200" dirty="0"/>
                  <a:t> is the </a:t>
                </a:r>
                <a:r>
                  <a:rPr lang="en-GB" sz="3200" b="1" dirty="0"/>
                  <a:t>Intercept</a:t>
                </a:r>
                <a:r>
                  <a:rPr lang="en-GB" sz="3200" dirty="0"/>
                  <a:t>, where the line crosses the y-axis</a:t>
                </a:r>
              </a:p>
              <a:p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3200" dirty="0"/>
                  <a:t> is the </a:t>
                </a:r>
                <a:r>
                  <a:rPr lang="en-GB" sz="3200" b="1" dirty="0"/>
                  <a:t>slope</a:t>
                </a:r>
                <a:r>
                  <a:rPr lang="en-GB" sz="3200" dirty="0"/>
                  <a:t> term i.e. response of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3200" dirty="0"/>
                  <a:t> to a one-unit change in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3200" dirty="0"/>
                  <a:t> </a:t>
                </a:r>
              </a:p>
              <a:p>
                <a:endParaRPr lang="en-GB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GB" sz="3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3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GB" sz="3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GB" sz="320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612520-DA04-C6B6-9B52-0B05F7A98E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82950"/>
                <a:ext cx="10515600" cy="2838450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49103B-DAEC-4A90-EAA9-F56946AD9822}"/>
              </a:ext>
            </a:extLst>
          </p:cNvPr>
          <p:cNvSpPr txBox="1">
            <a:spLocks/>
          </p:cNvSpPr>
          <p:nvPr/>
        </p:nvSpPr>
        <p:spPr>
          <a:xfrm>
            <a:off x="908050" y="1644650"/>
            <a:ext cx="10515600" cy="1587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Regression is useful for:</a:t>
            </a:r>
          </a:p>
          <a:p>
            <a:r>
              <a:rPr lang="en-GB" sz="2000" dirty="0"/>
              <a:t>Inference – what is the relationship between X and Y?</a:t>
            </a:r>
          </a:p>
          <a:p>
            <a:r>
              <a:rPr lang="en-GB" sz="2000" dirty="0"/>
              <a:t>Prediction – what is the predicted value of Y given X?</a:t>
            </a:r>
            <a:endParaRPr lang="ar-SA" sz="2000" dirty="0"/>
          </a:p>
        </p:txBody>
      </p:sp>
    </p:spTree>
    <p:extLst>
      <p:ext uri="{BB962C8B-B14F-4D97-AF65-F5344CB8AC3E}">
        <p14:creationId xmlns:p14="http://schemas.microsoft.com/office/powerpoint/2010/main" val="1102731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6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63337" y="1600622"/>
            <a:ext cx="5969828" cy="303155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70" name="Google Shape;470;p60"/>
          <p:cNvSpPr/>
          <p:nvPr/>
        </p:nvSpPr>
        <p:spPr>
          <a:xfrm>
            <a:off x="5816701" y="5144933"/>
            <a:ext cx="3063200" cy="982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GB" sz="2133" b="1" dirty="0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X - </a:t>
            </a:r>
            <a:r>
              <a:rPr lang="en-GB" sz="2133" dirty="0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the </a:t>
            </a:r>
            <a:r>
              <a:rPr lang="en-GB" sz="2133" i="1" dirty="0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independent variable</a:t>
            </a:r>
            <a:r>
              <a:rPr lang="en-GB" sz="2133" dirty="0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, is put onto the horizontal axis</a:t>
            </a:r>
            <a:endParaRPr sz="2400" dirty="0"/>
          </a:p>
        </p:txBody>
      </p:sp>
      <p:sp>
        <p:nvSpPr>
          <p:cNvPr id="471" name="Google Shape;471;p60"/>
          <p:cNvSpPr/>
          <p:nvPr/>
        </p:nvSpPr>
        <p:spPr>
          <a:xfrm>
            <a:off x="339450" y="3887700"/>
            <a:ext cx="3063200" cy="111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133" b="1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Y -</a:t>
            </a:r>
            <a:r>
              <a:rPr lang="en-GB" sz="2133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 the </a:t>
            </a:r>
            <a:r>
              <a:rPr lang="en-GB" sz="2133" i="1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dependent variable</a:t>
            </a:r>
            <a:r>
              <a:rPr lang="en-GB" sz="2133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, is put onto the vertical axis. </a:t>
            </a:r>
            <a:endParaRPr sz="2400"/>
          </a:p>
        </p:txBody>
      </p:sp>
      <p:cxnSp>
        <p:nvCxnSpPr>
          <p:cNvPr id="473" name="Google Shape;473;p60"/>
          <p:cNvCxnSpPr>
            <a:cxnSpLocks/>
            <a:stCxn id="471" idx="3"/>
          </p:cNvCxnSpPr>
          <p:nvPr/>
        </p:nvCxnSpPr>
        <p:spPr>
          <a:xfrm flipV="1">
            <a:off x="3402650" y="3314700"/>
            <a:ext cx="1391600" cy="1128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5" name="Google Shape;475;p60"/>
          <p:cNvCxnSpPr>
            <a:cxnSpLocks/>
            <a:stCxn id="470" idx="0"/>
          </p:cNvCxnSpPr>
          <p:nvPr/>
        </p:nvCxnSpPr>
        <p:spPr>
          <a:xfrm flipV="1">
            <a:off x="7348301" y="4222750"/>
            <a:ext cx="0" cy="92218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81B9981-055F-2F53-773B-7C00010B2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Bivariate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470;p60">
                <a:extLst>
                  <a:ext uri="{FF2B5EF4-FFF2-40B4-BE49-F238E27FC236}">
                    <a16:creationId xmlns:a16="http://schemas.microsoft.com/office/drawing/2014/main" id="{7C1658D1-A4D1-4436-1C18-B3A4E8FB817A}"/>
                  </a:ext>
                </a:extLst>
              </p:cNvPr>
              <p:cNvSpPr/>
              <p:nvPr/>
            </p:nvSpPr>
            <p:spPr>
              <a:xfrm>
                <a:off x="2394051" y="5376673"/>
                <a:ext cx="3063200" cy="982000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 dirty="0"/>
                  <a:t> - intercept is 0</a:t>
                </a:r>
                <a:endParaRPr sz="2400" dirty="0"/>
              </a:p>
            </p:txBody>
          </p:sp>
        </mc:Choice>
        <mc:Fallback xmlns="">
          <p:sp>
            <p:nvSpPr>
              <p:cNvPr id="5" name="Google Shape;470;p60">
                <a:extLst>
                  <a:ext uri="{FF2B5EF4-FFF2-40B4-BE49-F238E27FC236}">
                    <a16:creationId xmlns:a16="http://schemas.microsoft.com/office/drawing/2014/main" id="{7C1658D1-A4D1-4436-1C18-B3A4E8FB81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051" y="5376673"/>
                <a:ext cx="3063200" cy="982000"/>
              </a:xfrm>
              <a:prstGeom prst="roundRect">
                <a:avLst>
                  <a:gd name="adj" fmla="val 16667"/>
                </a:avLst>
              </a:prstGeom>
              <a:blipFill>
                <a:blip r:embed="rId4"/>
                <a:stretch>
                  <a:fillRect/>
                </a:stretch>
              </a:blip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Google Shape;475;p60">
            <a:extLst>
              <a:ext uri="{FF2B5EF4-FFF2-40B4-BE49-F238E27FC236}">
                <a16:creationId xmlns:a16="http://schemas.microsoft.com/office/drawing/2014/main" id="{F6778844-06D4-E886-4B48-39550A3A8A80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925651" y="4032250"/>
            <a:ext cx="918050" cy="134442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>
          <a:extLst>
            <a:ext uri="{FF2B5EF4-FFF2-40B4-BE49-F238E27FC236}">
              <a16:creationId xmlns:a16="http://schemas.microsoft.com/office/drawing/2014/main" id="{F6F8EC5E-054C-0976-6F87-1846D7F9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60">
            <a:extLst>
              <a:ext uri="{FF2B5EF4-FFF2-40B4-BE49-F238E27FC236}">
                <a16:creationId xmlns:a16="http://schemas.microsoft.com/office/drawing/2014/main" id="{E0113915-8BA8-6B8A-8F33-8C374F35159F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63337" y="1600622"/>
            <a:ext cx="5969828" cy="303155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70" name="Google Shape;470;p60">
            <a:extLst>
              <a:ext uri="{FF2B5EF4-FFF2-40B4-BE49-F238E27FC236}">
                <a16:creationId xmlns:a16="http://schemas.microsoft.com/office/drawing/2014/main" id="{332629E8-8FB2-C744-0F21-7A686C7C6B3C}"/>
              </a:ext>
            </a:extLst>
          </p:cNvPr>
          <p:cNvSpPr/>
          <p:nvPr/>
        </p:nvSpPr>
        <p:spPr>
          <a:xfrm>
            <a:off x="5816701" y="5144933"/>
            <a:ext cx="3063200" cy="982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GB" sz="2133" b="1" dirty="0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X - </a:t>
            </a:r>
            <a:r>
              <a:rPr lang="en-GB" sz="2133" dirty="0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the </a:t>
            </a:r>
            <a:r>
              <a:rPr lang="en-GB" sz="2133" i="1" dirty="0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independent variable</a:t>
            </a:r>
            <a:r>
              <a:rPr lang="en-GB" sz="2133" dirty="0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, is put onto the horizontal axis</a:t>
            </a:r>
            <a:endParaRPr sz="2400" dirty="0"/>
          </a:p>
        </p:txBody>
      </p:sp>
      <p:sp>
        <p:nvSpPr>
          <p:cNvPr id="471" name="Google Shape;471;p60">
            <a:extLst>
              <a:ext uri="{FF2B5EF4-FFF2-40B4-BE49-F238E27FC236}">
                <a16:creationId xmlns:a16="http://schemas.microsoft.com/office/drawing/2014/main" id="{FA984D38-661B-D252-3436-E74499A4A634}"/>
              </a:ext>
            </a:extLst>
          </p:cNvPr>
          <p:cNvSpPr/>
          <p:nvPr/>
        </p:nvSpPr>
        <p:spPr>
          <a:xfrm>
            <a:off x="339450" y="3887700"/>
            <a:ext cx="3063200" cy="111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133" b="1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Y -</a:t>
            </a:r>
            <a:r>
              <a:rPr lang="en-GB" sz="2133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 the </a:t>
            </a:r>
            <a:r>
              <a:rPr lang="en-GB" sz="2133" i="1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dependent variable</a:t>
            </a:r>
            <a:r>
              <a:rPr lang="en-GB" sz="2133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, is put onto the vertical axis. </a:t>
            </a:r>
            <a:endParaRPr sz="2400"/>
          </a:p>
        </p:txBody>
      </p:sp>
      <p:cxnSp>
        <p:nvCxnSpPr>
          <p:cNvPr id="473" name="Google Shape;473;p60">
            <a:extLst>
              <a:ext uri="{FF2B5EF4-FFF2-40B4-BE49-F238E27FC236}">
                <a16:creationId xmlns:a16="http://schemas.microsoft.com/office/drawing/2014/main" id="{7133990C-2EC0-14AF-967D-FFE58B864CDE}"/>
              </a:ext>
            </a:extLst>
          </p:cNvPr>
          <p:cNvCxnSpPr>
            <a:cxnSpLocks/>
            <a:stCxn id="471" idx="3"/>
          </p:cNvCxnSpPr>
          <p:nvPr/>
        </p:nvCxnSpPr>
        <p:spPr>
          <a:xfrm flipV="1">
            <a:off x="3402650" y="3365500"/>
            <a:ext cx="1334450" cy="1077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5" name="Google Shape;475;p60">
            <a:extLst>
              <a:ext uri="{FF2B5EF4-FFF2-40B4-BE49-F238E27FC236}">
                <a16:creationId xmlns:a16="http://schemas.microsoft.com/office/drawing/2014/main" id="{75E9CC34-750D-DF62-7C0B-D6B411D320C7}"/>
              </a:ext>
            </a:extLst>
          </p:cNvPr>
          <p:cNvCxnSpPr>
            <a:cxnSpLocks/>
            <a:stCxn id="470" idx="0"/>
          </p:cNvCxnSpPr>
          <p:nvPr/>
        </p:nvCxnSpPr>
        <p:spPr>
          <a:xfrm flipV="1">
            <a:off x="7348301" y="4305300"/>
            <a:ext cx="0" cy="8396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D338872-E4E6-B57F-2392-E3B2F8846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Bivariate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470;p60">
                <a:extLst>
                  <a:ext uri="{FF2B5EF4-FFF2-40B4-BE49-F238E27FC236}">
                    <a16:creationId xmlns:a16="http://schemas.microsoft.com/office/drawing/2014/main" id="{5CCA5950-5BB0-EB76-B6EC-F05D365BA949}"/>
                  </a:ext>
                </a:extLst>
              </p:cNvPr>
              <p:cNvSpPr/>
              <p:nvPr/>
            </p:nvSpPr>
            <p:spPr>
              <a:xfrm>
                <a:off x="2394051" y="5376673"/>
                <a:ext cx="3063200" cy="982000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 dirty="0"/>
                  <a:t> - intercept is 0</a:t>
                </a:r>
                <a:endParaRPr sz="2400" dirty="0"/>
              </a:p>
            </p:txBody>
          </p:sp>
        </mc:Choice>
        <mc:Fallback xmlns="">
          <p:sp>
            <p:nvSpPr>
              <p:cNvPr id="5" name="Google Shape;470;p60">
                <a:extLst>
                  <a:ext uri="{FF2B5EF4-FFF2-40B4-BE49-F238E27FC236}">
                    <a16:creationId xmlns:a16="http://schemas.microsoft.com/office/drawing/2014/main" id="{5CCA5950-5BB0-EB76-B6EC-F05D365BA9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051" y="5376673"/>
                <a:ext cx="3063200" cy="982000"/>
              </a:xfrm>
              <a:prstGeom prst="roundRect">
                <a:avLst>
                  <a:gd name="adj" fmla="val 16667"/>
                </a:avLst>
              </a:prstGeom>
              <a:blipFill>
                <a:blip r:embed="rId4"/>
                <a:stretch>
                  <a:fillRect/>
                </a:stretch>
              </a:blip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Google Shape;475;p60">
            <a:extLst>
              <a:ext uri="{FF2B5EF4-FFF2-40B4-BE49-F238E27FC236}">
                <a16:creationId xmlns:a16="http://schemas.microsoft.com/office/drawing/2014/main" id="{45A3B271-D586-15D0-F50B-3EE3F17E14B0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925651" y="4019550"/>
            <a:ext cx="918049" cy="135712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470;p60">
                <a:extLst>
                  <a:ext uri="{FF2B5EF4-FFF2-40B4-BE49-F238E27FC236}">
                    <a16:creationId xmlns:a16="http://schemas.microsoft.com/office/drawing/2014/main" id="{78C49792-1158-CB33-6FAF-E43F523A9F38}"/>
                  </a:ext>
                </a:extLst>
              </p:cNvPr>
              <p:cNvSpPr/>
              <p:nvPr/>
            </p:nvSpPr>
            <p:spPr>
              <a:xfrm>
                <a:off x="9036151" y="4997700"/>
                <a:ext cx="3063200" cy="982000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dirty="0"/>
                  <a:t> - slope is 3</a:t>
                </a:r>
                <a:endParaRPr sz="2400" dirty="0"/>
              </a:p>
            </p:txBody>
          </p:sp>
        </mc:Choice>
        <mc:Fallback xmlns="">
          <p:sp>
            <p:nvSpPr>
              <p:cNvPr id="3" name="Google Shape;470;p60">
                <a:extLst>
                  <a:ext uri="{FF2B5EF4-FFF2-40B4-BE49-F238E27FC236}">
                    <a16:creationId xmlns:a16="http://schemas.microsoft.com/office/drawing/2014/main" id="{78C49792-1158-CB33-6FAF-E43F523A9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6151" y="4997700"/>
                <a:ext cx="3063200" cy="982000"/>
              </a:xfrm>
              <a:prstGeom prst="roundRect">
                <a:avLst>
                  <a:gd name="adj" fmla="val 16667"/>
                </a:avLst>
              </a:prstGeom>
              <a:blipFill>
                <a:blip r:embed="rId5"/>
                <a:stretch>
                  <a:fillRect/>
                </a:stretch>
              </a:blip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Google Shape;475;p60">
            <a:extLst>
              <a:ext uri="{FF2B5EF4-FFF2-40B4-BE49-F238E27FC236}">
                <a16:creationId xmlns:a16="http://schemas.microsoft.com/office/drawing/2014/main" id="{2B5A0023-417A-A378-5C4C-25DA78788B3F}"/>
              </a:ext>
            </a:extLst>
          </p:cNvPr>
          <p:cNvCxnSpPr>
            <a:cxnSpLocks/>
          </p:cNvCxnSpPr>
          <p:nvPr/>
        </p:nvCxnSpPr>
        <p:spPr>
          <a:xfrm flipH="1" flipV="1">
            <a:off x="7785987" y="3187700"/>
            <a:ext cx="1371439" cy="17960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627815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61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57520" y="2419253"/>
            <a:ext cx="5946863" cy="301989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484" name="Google Shape;484;p61"/>
          <p:cNvCxnSpPr>
            <a:cxnSpLocks/>
          </p:cNvCxnSpPr>
          <p:nvPr/>
        </p:nvCxnSpPr>
        <p:spPr>
          <a:xfrm>
            <a:off x="7655983" y="3927442"/>
            <a:ext cx="0" cy="360567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5" name="Google Shape;485;p61"/>
          <p:cNvCxnSpPr>
            <a:cxnSpLocks/>
          </p:cNvCxnSpPr>
          <p:nvPr/>
        </p:nvCxnSpPr>
        <p:spPr>
          <a:xfrm flipV="1">
            <a:off x="9576468" y="3538533"/>
            <a:ext cx="0" cy="73228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8" name="Google Shape;488;p61"/>
          <p:cNvSpPr/>
          <p:nvPr/>
        </p:nvSpPr>
        <p:spPr>
          <a:xfrm>
            <a:off x="6911020" y="2870200"/>
            <a:ext cx="1072167" cy="982894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1200" dirty="0">
                <a:ea typeface="Helvetica Neue"/>
                <a:cs typeface="Helvetica Neue"/>
                <a:sym typeface="Helvetica Neue"/>
              </a:rPr>
              <a:t>Modelled Value of Y</a:t>
            </a:r>
            <a:endParaRPr sz="1200" dirty="0">
              <a:ea typeface="Helvetica Neue"/>
              <a:cs typeface="Helvetica Neue"/>
              <a:sym typeface="Helvetica Neue"/>
            </a:endParaRPr>
          </a:p>
          <a:p>
            <a:pPr algn="ctr"/>
            <a:r>
              <a:rPr lang="en-GB" sz="1200" b="1" dirty="0" err="1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y</a:t>
            </a:r>
            <a:r>
              <a:rPr lang="en-GB" sz="1200" b="1" baseline="-25000" dirty="0" err="1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i</a:t>
            </a:r>
            <a:endParaRPr lang="en-GB" sz="1200" b="1" baseline="-25000" dirty="0">
              <a:solidFill>
                <a:schemeClr val="dk1"/>
              </a:solidFill>
              <a:ea typeface="Helvetica Neue"/>
              <a:cs typeface="Helvetica Neue"/>
              <a:sym typeface="Helvetica Neue"/>
            </a:endParaRPr>
          </a:p>
          <a:p>
            <a:pPr algn="ctr"/>
            <a:r>
              <a:rPr lang="en-GB" sz="1200" dirty="0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(i.e. the line)</a:t>
            </a:r>
            <a:endParaRPr sz="1200" dirty="0"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9" name="Google Shape;489;p61"/>
          <p:cNvSpPr/>
          <p:nvPr/>
        </p:nvSpPr>
        <p:spPr>
          <a:xfrm>
            <a:off x="6820333" y="5013300"/>
            <a:ext cx="1072167" cy="107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1200" dirty="0">
                <a:ea typeface="Helvetica Neue"/>
                <a:cs typeface="Helvetica Neue"/>
                <a:sym typeface="Helvetica Neue"/>
              </a:rPr>
              <a:t>Observed Value of Y</a:t>
            </a:r>
            <a:endParaRPr sz="1200" dirty="0">
              <a:ea typeface="Helvetica Neue"/>
              <a:cs typeface="Helvetica Neue"/>
              <a:sym typeface="Helvetica Neue"/>
            </a:endParaRPr>
          </a:p>
          <a:p>
            <a:pPr algn="ctr"/>
            <a:r>
              <a:rPr lang="en-GB" sz="1200" b="1" dirty="0" err="1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y</a:t>
            </a:r>
            <a:r>
              <a:rPr lang="en-GB" sz="1200" b="1" baseline="-25000" dirty="0" err="1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i</a:t>
            </a:r>
            <a:endParaRPr lang="en-GB" sz="1200" b="1" baseline="-25000" dirty="0">
              <a:solidFill>
                <a:schemeClr val="dk1"/>
              </a:solidFill>
              <a:ea typeface="Helvetica Neue"/>
              <a:cs typeface="Helvetica Neue"/>
              <a:sym typeface="Helvetica Neue"/>
            </a:endParaRPr>
          </a:p>
          <a:p>
            <a:pPr algn="ctr"/>
            <a:r>
              <a:rPr lang="en-GB" sz="1200" dirty="0">
                <a:solidFill>
                  <a:schemeClr val="dk1"/>
                </a:solidFill>
                <a:ea typeface="Helvetica Neue"/>
                <a:cs typeface="Helvetica Neue"/>
                <a:sym typeface="Helvetica Neue"/>
              </a:rPr>
              <a:t>(i.e. the points)</a:t>
            </a:r>
            <a:endParaRPr sz="933" dirty="0"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0" name="Google Shape;490;p61"/>
          <p:cNvSpPr/>
          <p:nvPr/>
        </p:nvSpPr>
        <p:spPr>
          <a:xfrm>
            <a:off x="9403402" y="3412073"/>
            <a:ext cx="287600" cy="292000"/>
          </a:xfrm>
          <a:prstGeom prst="ellipse">
            <a:avLst/>
          </a:prstGeom>
          <a:noFill/>
          <a:ln w="2857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91" name="Google Shape;491;p61"/>
          <p:cNvSpPr/>
          <p:nvPr/>
        </p:nvSpPr>
        <p:spPr>
          <a:xfrm>
            <a:off x="9432668" y="4142009"/>
            <a:ext cx="287600" cy="292000"/>
          </a:xfrm>
          <a:prstGeom prst="ellipse">
            <a:avLst/>
          </a:prstGeom>
          <a:noFill/>
          <a:ln w="2857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92" name="Google Shape;492;p61"/>
          <p:cNvSpPr/>
          <p:nvPr/>
        </p:nvSpPr>
        <p:spPr>
          <a:xfrm>
            <a:off x="9702800" y="3584071"/>
            <a:ext cx="143131" cy="686742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3" name="Google Shape;493;p61"/>
              <p:cNvSpPr/>
              <p:nvPr/>
            </p:nvSpPr>
            <p:spPr>
              <a:xfrm>
                <a:off x="8483209" y="4397458"/>
                <a:ext cx="995600" cy="671600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r>
                  <a:rPr lang="en-GB" sz="1200" dirty="0">
                    <a:ea typeface="Helvetica Neue"/>
                    <a:cs typeface="Helvetica Neue"/>
                    <a:sym typeface="Helvetica Neue"/>
                  </a:rPr>
                  <a:t>Residual Value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sz="1200" dirty="0">
                  <a:ea typeface="Helvetica Neue"/>
                  <a:cs typeface="Helvetica Neue"/>
                  <a:sym typeface="Helvetica Neue"/>
                </a:endParaRPr>
              </a:p>
            </p:txBody>
          </p:sp>
        </mc:Choice>
        <mc:Fallback xmlns="">
          <p:sp>
            <p:nvSpPr>
              <p:cNvPr id="493" name="Google Shape;493;p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209" y="4397458"/>
                <a:ext cx="995600" cy="671600"/>
              </a:xfrm>
              <a:prstGeom prst="roundRect">
                <a:avLst>
                  <a:gd name="adj" fmla="val 16667"/>
                </a:avLst>
              </a:prstGeom>
              <a:blipFill>
                <a:blip r:embed="rId4"/>
                <a:stretch>
                  <a:fillRect/>
                </a:stretch>
              </a:blip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4" name="Google Shape;494;p61"/>
          <p:cNvSpPr txBox="1"/>
          <p:nvPr/>
        </p:nvSpPr>
        <p:spPr>
          <a:xfrm>
            <a:off x="7284142" y="3087231"/>
            <a:ext cx="3524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1333" b="1" dirty="0">
                <a:ea typeface="Courier New"/>
                <a:cs typeface="Courier New"/>
                <a:sym typeface="Courier New"/>
              </a:rPr>
              <a:t>^</a:t>
            </a:r>
            <a:endParaRPr sz="1333" b="1" dirty="0">
              <a:ea typeface="Courier New"/>
              <a:cs typeface="Courier New"/>
              <a:sym typeface="Courier New"/>
            </a:endParaRPr>
          </a:p>
        </p:txBody>
      </p:sp>
      <p:sp>
        <p:nvSpPr>
          <p:cNvPr id="501" name="Google Shape;501;p61"/>
          <p:cNvSpPr/>
          <p:nvPr/>
        </p:nvSpPr>
        <p:spPr>
          <a:xfrm>
            <a:off x="6820333" y="1348800"/>
            <a:ext cx="3634000" cy="67706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2" name="Google Shape;502;p61"/>
              <p:cNvSpPr txBox="1"/>
              <p:nvPr/>
            </p:nvSpPr>
            <p:spPr>
              <a:xfrm>
                <a:off x="6617933" y="1287201"/>
                <a:ext cx="4038800" cy="688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GB" sz="2800" i="1" dirty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GB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800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GB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2" name="Google Shape;502;p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933" y="1287201"/>
                <a:ext cx="4038800" cy="688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3" name="Google Shape;503;p61"/>
              <p:cNvSpPr txBox="1"/>
              <p:nvPr/>
            </p:nvSpPr>
            <p:spPr>
              <a:xfrm>
                <a:off x="290585" y="1263206"/>
                <a:ext cx="4638800" cy="3139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 algn="just">
                  <a:buClr>
                    <a:schemeClr val="dk1"/>
                  </a:buClr>
                  <a:buSzPts val="2400"/>
                </a:pPr>
                <a:r>
                  <a:rPr lang="en-GB" sz="1600" dirty="0">
                    <a:solidFill>
                      <a:schemeClr val="dk1"/>
                    </a:solidFill>
                    <a:ea typeface="Helvetica Neue"/>
                    <a:cs typeface="Helvetica Neue"/>
                    <a:sym typeface="Helvetica Neue"/>
                  </a:rPr>
                  <a:t>The error term (residuals) measure how far away our observed data is from the estimated regression line. </a:t>
                </a:r>
              </a:p>
              <a:p>
                <a:pPr algn="just">
                  <a:buClr>
                    <a:schemeClr val="dk1"/>
                  </a:buClr>
                  <a:buSzPts val="2400"/>
                </a:pPr>
                <a:endParaRPr lang="en-GB" sz="1600" dirty="0">
                  <a:solidFill>
                    <a:schemeClr val="dk1"/>
                  </a:solidFill>
                  <a:ea typeface="Helvetica Neue"/>
                  <a:cs typeface="Helvetica Neue"/>
                  <a:sym typeface="Helvetica Neue"/>
                </a:endParaRPr>
              </a:p>
              <a:p>
                <a:pPr algn="just">
                  <a:buClr>
                    <a:schemeClr val="dk1"/>
                  </a:buClr>
                  <a:buSzPts val="2400"/>
                </a:pPr>
                <a:r>
                  <a:rPr lang="en-GB" sz="1600" dirty="0">
                    <a:solidFill>
                      <a:schemeClr val="dk1"/>
                    </a:solidFill>
                    <a:ea typeface="Helvetica Neue"/>
                    <a:cs typeface="Helvetica Neue"/>
                    <a:sym typeface="Helvetica Neue"/>
                  </a:rPr>
                  <a:t>Each observation will have a respective modelled value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SA" sz="16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ar-SA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lang="ar-SA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𝑦</m:t>
                            </m:r>
                          </m:e>
                          <m:sub>
                            <m:r>
                              <a:rPr lang="en-GB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GB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sym typeface="Helvetica Neue"/>
                      </a:rPr>
                      <m:t>)</m:t>
                    </m:r>
                  </m:oMath>
                </a14:m>
                <a:r>
                  <a:rPr lang="en-GB" sz="1600" dirty="0">
                    <a:solidFill>
                      <a:schemeClr val="dk1"/>
                    </a:solidFill>
                    <a:ea typeface="Helvetica Neue"/>
                    <a:cs typeface="Helvetica Neue"/>
                    <a:sym typeface="Helvetica Neue"/>
                  </a:rPr>
                  <a:t>; and an error term (</a:t>
                </a:r>
                <a14:m>
                  <m:oMath xmlns:m="http://schemas.openxmlformats.org/officeDocument/2006/math">
                    <m:r>
                      <a:rPr lang="en-GB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GB" sz="1600" dirty="0">
                    <a:solidFill>
                      <a:schemeClr val="dk1"/>
                    </a:solidFill>
                    <a:ea typeface="Helvetica Neue"/>
                    <a:cs typeface="Helvetica Neue"/>
                    <a:sym typeface="Helvetica Neue"/>
                  </a:rPr>
                  <a:t>)</a:t>
                </a:r>
              </a:p>
              <a:p>
                <a:pPr algn="just">
                  <a:buClr>
                    <a:schemeClr val="dk1"/>
                  </a:buClr>
                  <a:buSzPts val="2400"/>
                </a:pPr>
                <a:endParaRPr lang="en-GB" sz="1600" dirty="0">
                  <a:solidFill>
                    <a:schemeClr val="dk1"/>
                  </a:solidFill>
                  <a:ea typeface="Helvetica Neue"/>
                  <a:cs typeface="Helvetica Neue"/>
                  <a:sym typeface="Helvetica Neue"/>
                </a:endParaRPr>
              </a:p>
              <a:p>
                <a:pPr algn="just">
                  <a:buClr>
                    <a:schemeClr val="dk1"/>
                  </a:buClr>
                  <a:buSzPts val="2400"/>
                </a:pPr>
                <a:r>
                  <a:rPr lang="en-GB" sz="1600" dirty="0">
                    <a:ea typeface="Helvetica Neue"/>
                    <a:cs typeface="Helvetica Neue"/>
                    <a:sym typeface="Helvetica Neue"/>
                  </a:rPr>
                  <a:t>Every observation will therefore (after estimation) have: The true observed value; the fitted value; and the residual value. All describing the variation in Y</a:t>
                </a:r>
              </a:p>
              <a:p>
                <a:pPr algn="just">
                  <a:buClr>
                    <a:schemeClr val="dk1"/>
                  </a:buClr>
                  <a:buSzPts val="2400"/>
                </a:pPr>
                <a:endParaRPr sz="2000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mc:Choice>
        <mc:Fallback xmlns="">
          <p:sp>
            <p:nvSpPr>
              <p:cNvPr id="503" name="Google Shape;503;p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85" y="1263206"/>
                <a:ext cx="4638800" cy="3139266"/>
              </a:xfrm>
              <a:prstGeom prst="rect">
                <a:avLst/>
              </a:prstGeom>
              <a:blipFill>
                <a:blip r:embed="rId6"/>
                <a:stretch>
                  <a:fillRect l="-1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394A157E-2FF7-B70E-375C-88B33E5B5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585" y="304018"/>
            <a:ext cx="10515600" cy="1325563"/>
          </a:xfrm>
        </p:spPr>
        <p:txBody>
          <a:bodyPr/>
          <a:lstStyle/>
          <a:p>
            <a:r>
              <a:rPr lang="en-GB" dirty="0"/>
              <a:t>Bivariate regression – error term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E8F2-BDBE-0509-63C9-A96486935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 Worked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01269-F2A7-1A63-25F8-30A4E2947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7875"/>
          </a:xfrm>
        </p:spPr>
        <p:txBody>
          <a:bodyPr>
            <a:normAutofit/>
          </a:bodyPr>
          <a:lstStyle/>
          <a:p>
            <a:r>
              <a:rPr lang="en-GB" dirty="0"/>
              <a:t>Survey of 250 people</a:t>
            </a:r>
          </a:p>
          <a:p>
            <a:r>
              <a:rPr lang="en-GB" dirty="0"/>
              <a:t>Dependent variable is their annual earnings (£)</a:t>
            </a:r>
          </a:p>
          <a:p>
            <a:r>
              <a:rPr lang="en-GB" dirty="0"/>
              <a:t>Independent variable is the university education (Y /  N)</a:t>
            </a:r>
          </a:p>
          <a:p>
            <a:r>
              <a:rPr lang="en-GB" dirty="0"/>
              <a:t>We also have data on:</a:t>
            </a:r>
          </a:p>
          <a:p>
            <a:pPr lvl="1"/>
            <a:r>
              <a:rPr lang="en-GB" dirty="0"/>
              <a:t>Gender (M / F)</a:t>
            </a:r>
          </a:p>
          <a:p>
            <a:pPr lvl="1"/>
            <a:r>
              <a:rPr lang="en-GB" dirty="0"/>
              <a:t>Years in employment</a:t>
            </a:r>
          </a:p>
          <a:p>
            <a:r>
              <a:rPr lang="en-GB" b="1" dirty="0"/>
              <a:t>Alternative hypothesis</a:t>
            </a:r>
            <a:r>
              <a:rPr lang="en-GB" dirty="0"/>
              <a:t>: annual earnings will increase with university education</a:t>
            </a:r>
          </a:p>
          <a:p>
            <a:r>
              <a:rPr lang="en-GB" b="1" dirty="0"/>
              <a:t>Null hypothesis</a:t>
            </a:r>
            <a:r>
              <a:rPr lang="en-GB" dirty="0"/>
              <a:t>: there is no relationship between annual earnings and university education</a:t>
            </a:r>
          </a:p>
        </p:txBody>
      </p:sp>
    </p:spTree>
    <p:extLst>
      <p:ext uri="{BB962C8B-B14F-4D97-AF65-F5344CB8AC3E}">
        <p14:creationId xmlns:p14="http://schemas.microsoft.com/office/powerpoint/2010/main" val="1876010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E9C11-DA89-7D6C-2FDC-0DBB71AED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Visualise your variables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04C6C29-C21C-1AEA-D1AA-A058245DC25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473542"/>
            <a:ext cx="5181600" cy="3055503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3221793-9785-07BE-7744-7D588E3CCB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473542"/>
            <a:ext cx="5181600" cy="305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000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C36FF-2B01-0E36-C085-34BA6860D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Dummy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8D8D-8A7E-0308-8113-E7A93C1D1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Represents your categorical variables numerically</a:t>
            </a:r>
          </a:p>
          <a:p>
            <a:r>
              <a:rPr lang="en-GB" dirty="0"/>
              <a:t>University education: Yes = 1, No = 0</a:t>
            </a:r>
          </a:p>
          <a:p>
            <a:r>
              <a:rPr lang="en-GB" dirty="0"/>
              <a:t>Gender: Male = 1, Female = 0</a:t>
            </a:r>
          </a:p>
          <a:p>
            <a:r>
              <a:rPr lang="en-GB" dirty="0"/>
              <a:t>If we had multiple gender categories, we would create multiple dummy variables:</a:t>
            </a:r>
          </a:p>
          <a:p>
            <a:pPr marL="457200" lvl="1" indent="0">
              <a:buNone/>
            </a:pPr>
            <a:endParaRPr lang="en-GB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D4A733-1226-452B-E8CA-DC13B52B8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422884"/>
              </p:ext>
            </p:extLst>
          </p:nvPr>
        </p:nvGraphicFramePr>
        <p:xfrm>
          <a:off x="2032001" y="4693603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24799399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2996778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45870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Female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589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65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735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Non-binary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786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604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87E8D-39A2-4A67-635B-1841CC2C7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30276A-53A0-42AF-A65B-792F1C871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887"/>
            <a:ext cx="10515600" cy="1325563"/>
          </a:xfrm>
        </p:spPr>
        <p:txBody>
          <a:bodyPr/>
          <a:lstStyle/>
          <a:p>
            <a:r>
              <a:rPr lang="en-GB" dirty="0"/>
              <a:t>Bivariate regression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219A48-CBC6-33BE-1F9E-32A20427E9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82700"/>
            <a:ext cx="5181600" cy="5575300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Unstandardized B: coefficient</a:t>
            </a:r>
          </a:p>
          <a:p>
            <a:r>
              <a:rPr lang="en-GB" dirty="0"/>
              <a:t>R</a:t>
            </a:r>
            <a:r>
              <a:rPr lang="en-GB" baseline="30000" dirty="0"/>
              <a:t>2</a:t>
            </a:r>
            <a:r>
              <a:rPr lang="en-GB" dirty="0"/>
              <a:t> : percentage variance explained</a:t>
            </a:r>
          </a:p>
          <a:p>
            <a:r>
              <a:rPr lang="en-GB" dirty="0"/>
              <a:t>F-ratio: ratio of explained variance to unexplained variance (higher is better)</a:t>
            </a:r>
          </a:p>
          <a:p>
            <a:r>
              <a:rPr lang="en-GB" dirty="0"/>
              <a:t>Sig.: p-value, the probability of a result at least as extreme as that observed assuming the null hypothesis is true, 0.05 conventional threshold</a:t>
            </a:r>
          </a:p>
          <a:p>
            <a:r>
              <a:rPr lang="en-GB" dirty="0"/>
              <a:t>Confidence interval: representation of uncertainty; a range of values likely to contain the true value (under certain assumptions); the </a:t>
            </a:r>
            <a:r>
              <a:rPr lang="en-GB" i="1" dirty="0"/>
              <a:t>percentage</a:t>
            </a:r>
            <a:r>
              <a:rPr lang="en-GB" dirty="0"/>
              <a:t> comes from the percentage of intervals expected to contain the true value if the study was repeated</a:t>
            </a:r>
          </a:p>
          <a:p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57188C8-8585-38C9-F7F2-F9B24CE567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282700"/>
            <a:ext cx="5181600" cy="349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863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C9DE7-8357-64D4-E8A0-EFF70BB31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B3C4630-663B-E63C-C2D5-8BF7086EA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887"/>
            <a:ext cx="10515600" cy="1325563"/>
          </a:xfrm>
        </p:spPr>
        <p:txBody>
          <a:bodyPr/>
          <a:lstStyle/>
          <a:p>
            <a:r>
              <a:rPr lang="en-GB" dirty="0"/>
              <a:t>Bivariate regression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945672-1E45-E6E9-5E01-2902C1BC35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82700"/>
            <a:ext cx="5181600" cy="5575300"/>
          </a:xfrm>
        </p:spPr>
        <p:txBody>
          <a:bodyPr>
            <a:normAutofit/>
          </a:bodyPr>
          <a:lstStyle/>
          <a:p>
            <a:r>
              <a:rPr lang="en-GB" dirty="0"/>
              <a:t>So, under this scenario we would reject the null hypothesis of no relationship</a:t>
            </a:r>
          </a:p>
          <a:p>
            <a:endParaRPr lang="en-GB" dirty="0"/>
          </a:p>
          <a:p>
            <a:r>
              <a:rPr lang="en-GB" b="1" u="sng" dirty="0"/>
              <a:t>BUT</a:t>
            </a:r>
            <a:r>
              <a:rPr lang="en-GB" dirty="0"/>
              <a:t> we have a problem!</a:t>
            </a:r>
          </a:p>
          <a:p>
            <a:endParaRPr lang="en-GB" dirty="0"/>
          </a:p>
          <a:p>
            <a:r>
              <a:rPr lang="en-GB" dirty="0"/>
              <a:t>Omitted variable bias i.e. potential confounders</a:t>
            </a:r>
          </a:p>
          <a:p>
            <a:endParaRPr lang="en-GB" dirty="0"/>
          </a:p>
        </p:txBody>
      </p:sp>
      <p:pic>
        <p:nvPicPr>
          <p:cNvPr id="6" name="Content Placeholder 9">
            <a:extLst>
              <a:ext uri="{FF2B5EF4-FFF2-40B4-BE49-F238E27FC236}">
                <a16:creationId xmlns:a16="http://schemas.microsoft.com/office/drawing/2014/main" id="{75AC4727-5EF7-10B6-7C8D-F1AEFD03E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1282700"/>
            <a:ext cx="5181600" cy="349134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0AC4E22-003D-5173-4955-A85418684AC5}"/>
              </a:ext>
            </a:extLst>
          </p:cNvPr>
          <p:cNvSpPr/>
          <p:nvPr/>
        </p:nvSpPr>
        <p:spPr>
          <a:xfrm>
            <a:off x="7029452" y="1579779"/>
            <a:ext cx="6223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94E830-1D2C-CF47-59F8-B5FA5259AA83}"/>
              </a:ext>
            </a:extLst>
          </p:cNvPr>
          <p:cNvSpPr/>
          <p:nvPr/>
        </p:nvSpPr>
        <p:spPr>
          <a:xfrm>
            <a:off x="8902702" y="2519579"/>
            <a:ext cx="6223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ECE9435-5A81-0E8D-4DFB-EF96C1067F31}"/>
              </a:ext>
            </a:extLst>
          </p:cNvPr>
          <p:cNvSpPr/>
          <p:nvPr/>
        </p:nvSpPr>
        <p:spPr>
          <a:xfrm>
            <a:off x="7073902" y="3954679"/>
            <a:ext cx="622300" cy="7429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84D9316-03E6-97E8-EA66-203018D9A3D1}"/>
              </a:ext>
            </a:extLst>
          </p:cNvPr>
          <p:cNvSpPr/>
          <p:nvPr/>
        </p:nvSpPr>
        <p:spPr>
          <a:xfrm>
            <a:off x="9372602" y="3954679"/>
            <a:ext cx="622300" cy="7429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4625EA-FCE8-A520-BC5F-8D032A6CB1F7}"/>
              </a:ext>
            </a:extLst>
          </p:cNvPr>
          <p:cNvSpPr/>
          <p:nvPr/>
        </p:nvSpPr>
        <p:spPr>
          <a:xfrm>
            <a:off x="9994902" y="3776879"/>
            <a:ext cx="1295400" cy="9971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540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E7EB59-1CF2-6C9E-545D-8C28AC89F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Multivariate regression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592E41D-2D8A-8BDA-444C-16A974B70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12" y="2238233"/>
            <a:ext cx="5607288" cy="33065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80AD62C-9808-5C19-3F24-06A56AE81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38233"/>
            <a:ext cx="5827158" cy="343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702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C40D-D230-DBF4-F87F-C0745136E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Multivariate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3FE6BF0-D5FA-4ECD-D323-6722B0CCB5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GB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is university education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is years worked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 is gender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3FE6BF0-D5FA-4ECD-D323-6722B0CCB5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906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88E39-A441-9D0F-8583-C5E70CBF6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Multivariate regression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4CC474-785E-5DE6-AD36-FD39EB91DB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8862" y="1548950"/>
            <a:ext cx="5334274" cy="3143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9419A9-6527-E29A-03D6-7AAA7A3A0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507" y="4830236"/>
            <a:ext cx="8464985" cy="179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25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70575-5465-B048-A4D1-02F59120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B9097-EBB0-4701-5025-2FB27C197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Multivariate regression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2DD6CF-88F0-0877-B6A9-2C1508742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8862" y="1548950"/>
            <a:ext cx="5334274" cy="3143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85F0C5-6468-B608-BC98-DAF3627F5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507" y="4830236"/>
            <a:ext cx="8464985" cy="17907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E9A701-B778-F160-627C-5CBBC621A6F2}"/>
              </a:ext>
            </a:extLst>
          </p:cNvPr>
          <p:cNvSpPr txBox="1"/>
          <p:nvPr/>
        </p:nvSpPr>
        <p:spPr>
          <a:xfrm>
            <a:off x="3060404" y="2339163"/>
            <a:ext cx="6071190" cy="28623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6000" b="1" dirty="0"/>
              <a:t>But wait! There’s one more problem…</a:t>
            </a:r>
          </a:p>
        </p:txBody>
      </p:sp>
    </p:spTree>
    <p:extLst>
      <p:ext uri="{BB962C8B-B14F-4D97-AF65-F5344CB8AC3E}">
        <p14:creationId xmlns:p14="http://schemas.microsoft.com/office/powerpoint/2010/main" val="1339812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A055C-C707-87FE-693A-A9862E65E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EBC217-5ED3-ACFB-3F46-3A6B41BA3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Interaction terms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EEDE37-0B0F-CD14-44C6-2F67F6C70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12" y="2238233"/>
            <a:ext cx="5607288" cy="3306525"/>
          </a:xfrm>
          <a:prstGeom prst="rect">
            <a:avLst/>
          </a:prstGeom>
        </p:spPr>
      </p:pic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3235C4E1-58F1-B7E9-B230-1C4DDFB0B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2098919"/>
            <a:ext cx="6452191" cy="380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338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752B1-9063-99E3-8285-124F1B607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Interaction terms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95BB81-D559-C17B-F719-DB511F3B0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160505"/>
          </a:xfrm>
        </p:spPr>
        <p:txBody>
          <a:bodyPr>
            <a:normAutofit/>
          </a:bodyPr>
          <a:lstStyle/>
          <a:p>
            <a:r>
              <a:rPr lang="en-GB" dirty="0"/>
              <a:t>University education </a:t>
            </a:r>
            <a:r>
              <a:rPr lang="en-GB" b="1" dirty="0"/>
              <a:t>interacts</a:t>
            </a:r>
            <a:r>
              <a:rPr lang="en-GB" dirty="0"/>
              <a:t> with years worked to determine earnings</a:t>
            </a:r>
          </a:p>
          <a:p>
            <a:r>
              <a:rPr lang="en-GB" dirty="0"/>
              <a:t>The effect of years worked is </a:t>
            </a:r>
            <a:r>
              <a:rPr lang="en-GB" b="1" dirty="0"/>
              <a:t>moderated by </a:t>
            </a:r>
            <a:r>
              <a:rPr lang="en-GB" dirty="0"/>
              <a:t>university education</a:t>
            </a:r>
          </a:p>
          <a:p>
            <a:r>
              <a:rPr lang="en-GB" dirty="0"/>
              <a:t>The slope for graduates is steeper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2D9B79-D341-F896-C52C-6980CA3BF0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9800" y="2098919"/>
            <a:ext cx="6452191" cy="380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459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E9DC-F69E-7025-D1EB-FB33A1B8E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Interaction terms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4E057A-8788-9A17-AE88-6F543E61A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represent an interaction numerically by multiplying the independent variables together, and using this as an additional variable</a:t>
            </a:r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0F08B5-C3EE-C76B-21BB-D79261D6ABE6}"/>
                  </a:ext>
                </a:extLst>
              </p:cNvPr>
              <p:cNvSpPr txBox="1"/>
              <p:nvPr/>
            </p:nvSpPr>
            <p:spPr>
              <a:xfrm>
                <a:off x="2014427" y="3429000"/>
                <a:ext cx="816314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)+ 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GB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0F08B5-C3EE-C76B-21BB-D79261D6A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427" y="3429000"/>
                <a:ext cx="8163146" cy="461665"/>
              </a:xfrm>
              <a:prstGeom prst="rect">
                <a:avLst/>
              </a:prstGeom>
              <a:blipFill>
                <a:blip r:embed="rId2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55AE9D-8962-4610-B0B5-C43DD40DE8C2}"/>
                  </a:ext>
                </a:extLst>
              </p:cNvPr>
              <p:cNvSpPr txBox="1"/>
              <p:nvPr/>
            </p:nvSpPr>
            <p:spPr>
              <a:xfrm>
                <a:off x="1607953" y="4364124"/>
                <a:ext cx="897609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𝑈𝑛𝑖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𝑒𝑎𝑟𝑠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𝑒𝑛𝑑𝑒𝑟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𝑈𝑛𝑖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𝑌𝑒𝑎𝑟𝑠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)+ 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GB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55AE9D-8962-4610-B0B5-C43DD40DE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953" y="4364124"/>
                <a:ext cx="8976094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0085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5721D-4936-8C63-9ABB-648370531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7C13-A784-91D9-66B5-42B12F8C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Multivariate regression with interaction term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FCC338-E405-EBEA-17E9-2471D2A26A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442624"/>
            <a:ext cx="5334274" cy="3143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D1E55F-8DB0-5A33-A08B-4A15268C4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4702083"/>
            <a:ext cx="7163167" cy="17907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9838C0-ABBD-2AE2-B615-89AFF5C40237}"/>
              </a:ext>
            </a:extLst>
          </p:cNvPr>
          <p:cNvSpPr txBox="1"/>
          <p:nvPr/>
        </p:nvSpPr>
        <p:spPr>
          <a:xfrm>
            <a:off x="6816219" y="1690688"/>
            <a:ext cx="48590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Coefficients of Years and University should be interpreted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For every one-year increase in years worked: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For non-university graduates, earnings increase by </a:t>
            </a:r>
            <a:r>
              <a:rPr lang="en-GB" b="1" dirty="0"/>
              <a:t>£179.65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For university graduates, earnings increase by £179.65 + £90.35 = </a:t>
            </a:r>
            <a:r>
              <a:rPr lang="en-GB" b="1" dirty="0"/>
              <a:t>£270.00</a:t>
            </a:r>
          </a:p>
        </p:txBody>
      </p:sp>
    </p:spTree>
    <p:extLst>
      <p:ext uri="{BB962C8B-B14F-4D97-AF65-F5344CB8AC3E}">
        <p14:creationId xmlns:p14="http://schemas.microsoft.com/office/powerpoint/2010/main" val="1904332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135D5-BCA0-C828-33AA-CAE9BD87A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D48D4-1E22-4430-FF2E-F22B1B9997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No omitted variable bias</a:t>
            </a:r>
          </a:p>
          <a:p>
            <a:endParaRPr lang="en-GB" dirty="0"/>
          </a:p>
          <a:p>
            <a:r>
              <a:rPr lang="en-GB" dirty="0"/>
              <a:t>Independence of observations</a:t>
            </a:r>
          </a:p>
          <a:p>
            <a:endParaRPr lang="en-GB" dirty="0"/>
          </a:p>
          <a:p>
            <a:r>
              <a:rPr lang="en-GB" dirty="0"/>
              <a:t>Normality of residuals</a:t>
            </a:r>
          </a:p>
          <a:p>
            <a:endParaRPr lang="en-GB" dirty="0"/>
          </a:p>
          <a:p>
            <a:r>
              <a:rPr lang="en-GB" dirty="0"/>
              <a:t>Homoscedasticity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86DBD0-105C-9AC3-1007-F7D734494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156" y="265815"/>
            <a:ext cx="4866285" cy="331605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4E7C6B7-FBFF-E62B-7377-26049B426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235" y="3945940"/>
            <a:ext cx="4778080" cy="2326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198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49AE7-5514-1535-2D62-36A82309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6DA3E-9757-C4A3-6897-C68140476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 – other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08756-74A3-F2B1-F91C-5150B52C74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793819" cy="4351338"/>
          </a:xfrm>
        </p:spPr>
        <p:txBody>
          <a:bodyPr/>
          <a:lstStyle/>
          <a:p>
            <a:r>
              <a:rPr lang="en-GB" dirty="0"/>
              <a:t>Multicollinearity – independent variables ideally not highly correlated with one another</a:t>
            </a:r>
          </a:p>
          <a:p>
            <a:pPr lvl="1"/>
            <a:r>
              <a:rPr lang="en-GB" dirty="0"/>
              <a:t>Variance inflation factor – below 5</a:t>
            </a:r>
          </a:p>
          <a:p>
            <a:endParaRPr lang="en-GB" dirty="0"/>
          </a:p>
          <a:p>
            <a:r>
              <a:rPr lang="en-GB" dirty="0"/>
              <a:t>Outliers – can bias the coefficient estimate</a:t>
            </a:r>
          </a:p>
          <a:p>
            <a:pPr lvl="1"/>
            <a:r>
              <a:rPr lang="en-GB" dirty="0"/>
              <a:t>Need strong justification to remove outliers e.g. data entry error</a:t>
            </a:r>
          </a:p>
        </p:txBody>
      </p:sp>
    </p:spTree>
    <p:extLst>
      <p:ext uri="{BB962C8B-B14F-4D97-AF65-F5344CB8AC3E}">
        <p14:creationId xmlns:p14="http://schemas.microsoft.com/office/powerpoint/2010/main" val="500861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0B5C2-3F8B-7EA8-ADE6-6DB6F26B4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93814-0C80-63EE-8091-01EAC4985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92A88-0988-73F7-4FFA-4A5EF4FA39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Often used for managing skewed variables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Income</a:t>
            </a:r>
          </a:p>
          <a:p>
            <a:pPr lvl="1"/>
            <a:r>
              <a:rPr lang="en-GB" dirty="0"/>
              <a:t>House prices</a:t>
            </a:r>
          </a:p>
          <a:p>
            <a:pPr lvl="1"/>
            <a:r>
              <a:rPr lang="en-GB" dirty="0"/>
              <a:t>Extreme beliefs e.g. belief that COVID-19 was caused by 5G</a:t>
            </a:r>
          </a:p>
          <a:p>
            <a:r>
              <a:rPr lang="en-GB" dirty="0"/>
              <a:t>Most common is log transformation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42DDEC-F5D0-4DC5-FD4C-ADBAC0CE8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113" y="117402"/>
            <a:ext cx="6312194" cy="30547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0204E9-09AF-7CB6-D8C7-8F282EEF0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806" y="3600822"/>
            <a:ext cx="6312194" cy="305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65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29682-3418-F833-ABE9-87E4A35F9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038C2E6-5085-53ED-66C7-A6CA50BE9C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3769" y="1889423"/>
                <a:ext cx="10515600" cy="4351338"/>
              </a:xfrm>
            </p:spPr>
            <p:txBody>
              <a:bodyPr/>
              <a:lstStyle/>
              <a:p>
                <a:r>
                  <a:rPr lang="en-GB" dirty="0"/>
                  <a:t>Log transformation changes the way we interpret the coefficients</a:t>
                </a:r>
              </a:p>
              <a:p>
                <a:r>
                  <a:rPr lang="en-GB" dirty="0"/>
                  <a:t>Interpret them as percentage changes</a:t>
                </a:r>
              </a:p>
              <a:p>
                <a:r>
                  <a:rPr lang="en-GB" dirty="0"/>
                  <a:t>Log transformed dependent variable: </a:t>
                </a:r>
                <a:r>
                  <a:rPr lang="en-GB" i="1" dirty="0"/>
                  <a:t>exponentiate the coefficient. </a:t>
                </a:r>
                <a:r>
                  <a:rPr lang="en-GB" dirty="0"/>
                  <a:t>For every one unit increase in X, Y increases by a factor equal to the exponentiated coefficient</a:t>
                </a:r>
              </a:p>
              <a:p>
                <a:r>
                  <a:rPr lang="en-GB" dirty="0"/>
                  <a:t>Hypothetical example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 = 0.41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2.718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0.41</m:t>
                        </m:r>
                      </m:sup>
                    </m:sSup>
                  </m:oMath>
                </a14:m>
                <a:r>
                  <a:rPr lang="en-GB" dirty="0"/>
                  <a:t> = 1.507</a:t>
                </a:r>
              </a:p>
              <a:p>
                <a:pPr lvl="1"/>
                <a:r>
                  <a:rPr lang="en-GB" dirty="0"/>
                  <a:t>Y increases by roughly 50% for every one unit increase in X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038C2E6-5085-53ED-66C7-A6CA50BE9C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3769" y="1889423"/>
                <a:ext cx="10515600" cy="4351338"/>
              </a:xfrm>
              <a:blipFill>
                <a:blip r:embed="rId2"/>
                <a:stretch>
                  <a:fillRect l="-1043" t="-2521" r="-17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0FAC39-6A6B-AB99-7DB0-B6F150621AA3}"/>
                  </a:ext>
                </a:extLst>
              </p:cNvPr>
              <p:cNvSpPr txBox="1"/>
              <p:nvPr/>
            </p:nvSpPr>
            <p:spPr>
              <a:xfrm>
                <a:off x="8738191" y="0"/>
                <a:ext cx="3453809" cy="175432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Exponentiate means to raise a mathematical constant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dirty="0"/>
                  <a:t> to the power of another number.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dirty="0"/>
                  <a:t> is roughly 2.718. And in this case, the power it is raised to is the value of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 coefficient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0FAC39-6A6B-AB99-7DB0-B6F150621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8191" y="0"/>
                <a:ext cx="3453809" cy="1754326"/>
              </a:xfrm>
              <a:prstGeom prst="rect">
                <a:avLst/>
              </a:prstGeom>
              <a:blipFill>
                <a:blip r:embed="rId3"/>
                <a:stretch>
                  <a:fillRect l="-1228" t="-1031" b="-41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B1B6958-0632-120D-E45F-9A91C9A13F09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10123502" y="2095920"/>
            <a:ext cx="1244058" cy="560870"/>
          </a:xfrm>
          <a:prstGeom prst="bentConnector3">
            <a:avLst>
              <a:gd name="adj1" fmla="val 10685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9041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7C7FB-D95B-31AF-2FBF-FEA9DD6D1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378E82-A7F9-1024-B300-BC219E2160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Log transformed independent variable: </a:t>
                </a:r>
                <a:r>
                  <a:rPr lang="en-GB" i="1" dirty="0"/>
                  <a:t>divide the coefficient by 100</a:t>
                </a:r>
                <a:r>
                  <a:rPr lang="en-GB" dirty="0"/>
                  <a:t>. A 1% increase in the independent variable increases (or decreases) the dependent variable by (coefficient/100) units</a:t>
                </a:r>
              </a:p>
              <a:p>
                <a:r>
                  <a:rPr lang="en-GB" dirty="0"/>
                  <a:t>Hypothetical example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 = 5.20</a:t>
                </a:r>
              </a:p>
              <a:p>
                <a:pPr lvl="1"/>
                <a:r>
                  <a:rPr lang="en-GB" dirty="0"/>
                  <a:t>For every one-unit increase in X, Y increases by 5.20/100 = 0.052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378E82-A7F9-1024-B300-BC219E2160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49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48AC-ADE8-4DE3-0C99-8F01BE1CE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DE20B-90A6-18D6-B9C9-0D1F1E70D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Log-log model i.e. log transformed dependent and independent variable</a:t>
            </a:r>
          </a:p>
          <a:p>
            <a:r>
              <a:rPr lang="en-GB" dirty="0"/>
              <a:t>Interpret the coefficient as the percent increase in the dependent variable for every 1% increase in the independent variable</a:t>
            </a:r>
          </a:p>
        </p:txBody>
      </p:sp>
    </p:spTree>
    <p:extLst>
      <p:ext uri="{BB962C8B-B14F-4D97-AF65-F5344CB8AC3E}">
        <p14:creationId xmlns:p14="http://schemas.microsoft.com/office/powerpoint/2010/main" val="36755637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26858-F9AD-D0D1-2D3C-B6248140E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F429E-3A94-446D-A29B-5BC60769D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5187950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Regression is a statistical method that can be used for inference and prediction</a:t>
            </a:r>
          </a:p>
          <a:p>
            <a:r>
              <a:rPr lang="en-GB" dirty="0"/>
              <a:t>It is modelled using an:</a:t>
            </a:r>
          </a:p>
          <a:p>
            <a:pPr lvl="1"/>
            <a:r>
              <a:rPr lang="en-GB" dirty="0"/>
              <a:t>Intercept – the point where the slope crosses the y-axis</a:t>
            </a:r>
          </a:p>
          <a:p>
            <a:pPr lvl="1"/>
            <a:r>
              <a:rPr lang="en-GB" dirty="0"/>
              <a:t>Coefficient (i.e. slope) – the steepness of the line i.e. response of Y to one unit increase in X</a:t>
            </a:r>
          </a:p>
          <a:p>
            <a:pPr lvl="1"/>
            <a:r>
              <a:rPr lang="en-GB" dirty="0"/>
              <a:t>Error term – residual distance between the observed value and the modelled value</a:t>
            </a:r>
          </a:p>
          <a:p>
            <a:r>
              <a:rPr lang="en-GB" dirty="0"/>
              <a:t>Accompanied by statistics to evaluate the model:</a:t>
            </a:r>
          </a:p>
          <a:p>
            <a:pPr lvl="1"/>
            <a:r>
              <a:rPr lang="en-GB" dirty="0"/>
              <a:t>R</a:t>
            </a:r>
            <a:r>
              <a:rPr lang="en-GB" baseline="30000" dirty="0"/>
              <a:t>2 </a:t>
            </a:r>
            <a:r>
              <a:rPr lang="en-GB" dirty="0"/>
              <a:t>:</a:t>
            </a:r>
            <a:r>
              <a:rPr lang="en-GB" baseline="30000" dirty="0"/>
              <a:t> </a:t>
            </a:r>
            <a:r>
              <a:rPr lang="en-GB" dirty="0"/>
              <a:t>goodness of fit</a:t>
            </a:r>
          </a:p>
          <a:p>
            <a:pPr lvl="1"/>
            <a:r>
              <a:rPr lang="en-GB" dirty="0"/>
              <a:t>p-value: below 0.05 conventional threshold for statistical significance</a:t>
            </a:r>
          </a:p>
          <a:p>
            <a:pPr lvl="1"/>
            <a:r>
              <a:rPr lang="en-GB" dirty="0"/>
              <a:t>Confidence intervals: range of likely values for the true value</a:t>
            </a:r>
          </a:p>
          <a:p>
            <a:r>
              <a:rPr lang="en-GB" dirty="0"/>
              <a:t>Regression makes assumptions about the data which need checking</a:t>
            </a:r>
          </a:p>
          <a:p>
            <a:r>
              <a:rPr lang="en-GB" dirty="0"/>
              <a:t>Interactions model the moderation of two variables by one another</a:t>
            </a:r>
          </a:p>
          <a:p>
            <a:r>
              <a:rPr lang="en-GB" dirty="0"/>
              <a:t>Transformations can deal with skewed variable but change the interpretation of coefficients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6955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608-E4A5-056D-63FE-2BA9D107C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Workshop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2723B-F3B4-4635-B327-FB85F275A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 perceptions of Keir Starmer’s competency vary by social class?</a:t>
            </a:r>
          </a:p>
          <a:p>
            <a:pPr lvl="1"/>
            <a:r>
              <a:rPr lang="en-GB" dirty="0"/>
              <a:t>Null hypothesis: there is no relationship between social class and perceptions of Starmer’s competency</a:t>
            </a:r>
          </a:p>
          <a:p>
            <a:pPr lvl="1"/>
            <a:r>
              <a:rPr lang="en-GB" dirty="0"/>
              <a:t>Alternative hypothesis: Manual, partly skilled and unskilled occupations will see Starmer as less competent than professional occupations</a:t>
            </a:r>
          </a:p>
          <a:p>
            <a:r>
              <a:rPr lang="en-GB" dirty="0"/>
              <a:t>Were low house prices associated with support for Brexit?</a:t>
            </a:r>
          </a:p>
          <a:p>
            <a:pPr lvl="1"/>
            <a:r>
              <a:rPr lang="en-GB" dirty="0"/>
              <a:t>Null hypothesis: there is no relationship between house prices and support for Leave in the 2016 referendum</a:t>
            </a:r>
          </a:p>
          <a:p>
            <a:pPr lvl="1"/>
            <a:r>
              <a:rPr lang="en-GB" dirty="0"/>
              <a:t>Alternative hypothesis: house prices are negatively associated with support for Leave in the 2016 referendum</a:t>
            </a:r>
          </a:p>
        </p:txBody>
      </p:sp>
    </p:spTree>
    <p:extLst>
      <p:ext uri="{BB962C8B-B14F-4D97-AF65-F5344CB8AC3E}">
        <p14:creationId xmlns:p14="http://schemas.microsoft.com/office/powerpoint/2010/main" val="307579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1230</Words>
  <Application>Microsoft Office PowerPoint</Application>
  <PresentationFormat>Widescreen</PresentationFormat>
  <Paragraphs>172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Helvetica Neue</vt:lpstr>
      <vt:lpstr>Aptos</vt:lpstr>
      <vt:lpstr>Aptos Display</vt:lpstr>
      <vt:lpstr>Arial</vt:lpstr>
      <vt:lpstr>Cambria Math</vt:lpstr>
      <vt:lpstr>Courier New</vt:lpstr>
      <vt:lpstr>Office Theme</vt:lpstr>
      <vt:lpstr>Multivariate Regression</vt:lpstr>
      <vt:lpstr>Content</vt:lpstr>
      <vt:lpstr>Regression vs. correlation</vt:lpstr>
      <vt:lpstr>Regression vs. correlation</vt:lpstr>
      <vt:lpstr>Regression</vt:lpstr>
      <vt:lpstr>Bivariate regression</vt:lpstr>
      <vt:lpstr>Bivariate regression</vt:lpstr>
      <vt:lpstr>Bivariate regression – error term</vt:lpstr>
      <vt:lpstr>Regression Worked Example</vt:lpstr>
      <vt:lpstr>Visualise your variables</vt:lpstr>
      <vt:lpstr>Dummy variables</vt:lpstr>
      <vt:lpstr>Bivariate regression</vt:lpstr>
      <vt:lpstr>Bivariate regression</vt:lpstr>
      <vt:lpstr>Multivariate regression</vt:lpstr>
      <vt:lpstr>Multivariate regression</vt:lpstr>
      <vt:lpstr>Multivariate regression</vt:lpstr>
      <vt:lpstr>Multivariate regression</vt:lpstr>
      <vt:lpstr>Interaction terms</vt:lpstr>
      <vt:lpstr>Interaction terms</vt:lpstr>
      <vt:lpstr>Interaction terms</vt:lpstr>
      <vt:lpstr>Multivariate regression with interaction term</vt:lpstr>
      <vt:lpstr>Regression assumptions</vt:lpstr>
      <vt:lpstr>Regression – other diagnostics</vt:lpstr>
      <vt:lpstr>Transformation</vt:lpstr>
      <vt:lpstr>Transformation</vt:lpstr>
      <vt:lpstr>Transformation</vt:lpstr>
      <vt:lpstr>Transformation</vt:lpstr>
      <vt:lpstr>Summary</vt:lpstr>
      <vt:lpstr>Workshop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Marshall</dc:creator>
  <cp:lastModifiedBy>Michael Marshall</cp:lastModifiedBy>
  <cp:revision>13</cp:revision>
  <dcterms:created xsi:type="dcterms:W3CDTF">2026-02-23T09:27:40Z</dcterms:created>
  <dcterms:modified xsi:type="dcterms:W3CDTF">2026-02-24T09:17:56Z</dcterms:modified>
</cp:coreProperties>
</file>